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silence, then: "Before I show a single slide — how many enquiries did your office receive after 6 PM last week? Who called them back?" Let them answer. Then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grid: "This is your org chart. Nothing here is optional — every box must happen for one child to join. Keep this picture in mind; we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never blame their team. "Your people are good. The clock is the enemy — nights, weekends, peak-season volume. No human roster can hold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maroon box. "Forget software for a second. What is one admission worth to you, in fees, over two years? That is the unit we should measure everything in." This number sells slide 12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CUE. Stop presenting. Open the live showcase, pick a family, call Sneha, and hand the room the conversation. Switch to Telugu mid-call. Nothing in this deck outsells that ninety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parents do not want an IVR in English. They want a counsellor in their own language, at the moment they are free — which is usually 9 PM." If the live demo already ran, this slide is a recap; move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three or four rows aloud, slowly — value stacking works by accumulation. End with the footer line and let the "Included" column do the anchoring for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 best counsellor finishes a great call, the work has only started — notes, CRM, WhatsApp, reminders. When Sneha finishes, all of that has already happened." This is the ease-of-life slide: sell relief, not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Managements buy control. "Your counsellors’ work becomes visible for the first time — including the AI’s. Every claim I have made today, you can verify on this screen, any day." Offer to open the live dashboard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make the CFO relax before the price appears. "We are showing you our raw materials bill. Most vendors would never show you this page." The chai line earns a smile —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order matters: point at the vendor row FIRST ("that money goes to the phone company and the AI provider, not to us"), then the fee row, then land on the green savings row and stop talking. Silence after the savings row closes better than any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10x slide. Deliver slowly: "She does not need to be perfect. She needs to save one or two admissions a year that a missed call would have lost. Everything past that is profit — and we have not even counted the salaries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Do not ask "any questions?" — ask "which of your numbers shall we load first: this season’s backlog, or last season’s cold leads?" Assume the pilot; let them steer the details. Then open the demo one last time and let Sneha say goodbye to the room in Telugu.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1220"/>
        </a:solidFill>
      </p:bgPr>
    </p:bg>
    <p:spTree>
      <p:nvGrpSpPr>
        <p:cNvPr id="1" name=""/>
        <p:cNvGrpSpPr/>
        <p:nvPr/>
      </p:nvGrpSpPr>
      <p:grpSpPr>
        <a:xfrm>
          <a:off x="0" y="0"/>
          <a:ext cx="0" cy="0"/>
          <a:chOff x="0" y="0"/>
          <a:chExt cx="0" cy="0"/>
        </a:xfrm>
      </p:grpSpPr>
      <p:sp>
        <p:nvSpPr>
          <p:cNvPr id="2" name="Text 0"/>
          <p:cNvSpPr/>
          <p:nvPr/>
        </p:nvSpPr>
        <p:spPr>
          <a:xfrm>
            <a:off x="640080" y="502920"/>
            <a:ext cx="4572000" cy="365760"/>
          </a:xfrm>
          <a:prstGeom prst="rect">
            <a:avLst/>
          </a:prstGeom>
          <a:noFill/>
          <a:ln/>
        </p:spPr>
        <p:txBody>
          <a:bodyPr wrap="square" lIns="0" tIns="0" rIns="0" bIns="0" rtlCol="0" anchor="ctr"/>
          <a:lstStyle/>
          <a:p>
            <a:pPr indent="0" marL="0">
              <a:buNone/>
            </a:pPr>
            <a:r>
              <a:rPr lang="en-US" sz="1800" b="1" dirty="0">
                <a:solidFill>
                  <a:srgbClr val="F3E9DC"/>
                </a:solidFill>
                <a:latin typeface="Cambria" pitchFamily="34" charset="0"/>
                <a:ea typeface="Cambria" pitchFamily="34" charset="-122"/>
                <a:cs typeface="Cambria" pitchFamily="34" charset="-120"/>
              </a:rPr>
              <a:t>Admissions AI</a:t>
            </a:r>
            <a:endParaRPr lang="en-US" sz="1800" dirty="0"/>
          </a:p>
        </p:txBody>
      </p:sp>
      <p:sp>
        <p:nvSpPr>
          <p:cNvPr id="3" name="Text 1"/>
          <p:cNvSpPr/>
          <p:nvPr/>
        </p:nvSpPr>
        <p:spPr>
          <a:xfrm>
            <a:off x="640080" y="868680"/>
            <a:ext cx="4572000" cy="274320"/>
          </a:xfrm>
          <a:prstGeom prst="rect">
            <a:avLst/>
          </a:prstGeom>
          <a:noFill/>
          <a:ln/>
        </p:spPr>
        <p:txBody>
          <a:bodyPr wrap="square" lIns="0" tIns="0" rIns="0" bIns="0" rtlCol="0" anchor="ctr"/>
          <a:lstStyle/>
          <a:p>
            <a:pPr indent="0" marL="0">
              <a:buNone/>
            </a:pPr>
            <a:r>
              <a:rPr lang="en-US" sz="1100" dirty="0">
                <a:solidFill>
                  <a:srgbClr val="C9AFA3"/>
                </a:solidFill>
                <a:latin typeface="Calibri" pitchFamily="34" charset="0"/>
                <a:ea typeface="Calibri" pitchFamily="34" charset="-122"/>
                <a:cs typeface="Calibri" pitchFamily="34" charset="-120"/>
              </a:rPr>
              <a:t>built for Intermediate colleges</a:t>
            </a:r>
            <a:endParaRPr lang="en-US" sz="1100" dirty="0"/>
          </a:p>
        </p:txBody>
      </p:sp>
      <p:sp>
        <p:nvSpPr>
          <p:cNvPr id="4" name="Text 2"/>
          <p:cNvSpPr/>
          <p:nvPr/>
        </p:nvSpPr>
        <p:spPr>
          <a:xfrm>
            <a:off x="640080" y="2286000"/>
            <a:ext cx="10881360" cy="1005840"/>
          </a:xfrm>
          <a:prstGeom prst="rect">
            <a:avLst/>
          </a:prstGeom>
          <a:noFill/>
          <a:ln/>
        </p:spPr>
        <p:txBody>
          <a:bodyPr wrap="square" lIns="0" tIns="0" rIns="0" bIns="0" rtlCol="0" anchor="ctr"/>
          <a:lstStyle/>
          <a:p>
            <a:pPr indent="0" marL="0">
              <a:buNone/>
            </a:pPr>
            <a:r>
              <a:rPr lang="en-US" sz="4700" b="1" dirty="0">
                <a:solidFill>
                  <a:srgbClr val="F3E9DC"/>
                </a:solidFill>
                <a:latin typeface="Cambria" pitchFamily="34" charset="0"/>
                <a:ea typeface="Cambria" pitchFamily="34" charset="-122"/>
                <a:cs typeface="Cambria" pitchFamily="34" charset="-120"/>
              </a:rPr>
              <a:t>Your entire admissions office.</a:t>
            </a:r>
            <a:endParaRPr lang="en-US" sz="4700" dirty="0"/>
          </a:p>
        </p:txBody>
      </p:sp>
      <p:sp>
        <p:nvSpPr>
          <p:cNvPr id="5" name="Text 3"/>
          <p:cNvSpPr/>
          <p:nvPr/>
        </p:nvSpPr>
        <p:spPr>
          <a:xfrm>
            <a:off x="640080" y="3291840"/>
            <a:ext cx="10881360" cy="1005840"/>
          </a:xfrm>
          <a:prstGeom prst="rect">
            <a:avLst/>
          </a:prstGeom>
          <a:noFill/>
          <a:ln/>
        </p:spPr>
        <p:txBody>
          <a:bodyPr wrap="square" lIns="0" tIns="0" rIns="0" bIns="0" rtlCol="0" anchor="ctr"/>
          <a:lstStyle/>
          <a:p>
            <a:pPr indent="0" marL="0">
              <a:buNone/>
            </a:pPr>
            <a:r>
              <a:rPr lang="en-US" sz="4700" b="1" dirty="0">
                <a:solidFill>
                  <a:srgbClr val="E4A3AE"/>
                </a:solidFill>
                <a:latin typeface="Cambria" pitchFamily="34" charset="0"/>
                <a:ea typeface="Cambria" pitchFamily="34" charset="-122"/>
                <a:cs typeface="Cambria" pitchFamily="34" charset="-120"/>
              </a:rPr>
              <a:t>One system.</a:t>
            </a:r>
            <a:endParaRPr lang="en-US" sz="4700" dirty="0"/>
          </a:p>
        </p:txBody>
      </p:sp>
      <p:sp>
        <p:nvSpPr>
          <p:cNvPr id="6" name="Text 4"/>
          <p:cNvSpPr/>
          <p:nvPr/>
        </p:nvSpPr>
        <p:spPr>
          <a:xfrm>
            <a:off x="640080" y="4663440"/>
            <a:ext cx="8686800" cy="822960"/>
          </a:xfrm>
          <a:prstGeom prst="rect">
            <a:avLst/>
          </a:prstGeom>
          <a:noFill/>
          <a:ln/>
        </p:spPr>
        <p:txBody>
          <a:bodyPr wrap="square" lIns="0" tIns="0" rIns="0" bIns="0" rtlCol="0" anchor="ctr"/>
          <a:lstStyle/>
          <a:p>
            <a:pPr indent="0" marL="0">
              <a:buNone/>
            </a:pPr>
            <a:r>
              <a:rPr lang="en-US" sz="1500" dirty="0">
                <a:solidFill>
                  <a:srgbClr val="C9AFA3"/>
                </a:solidFill>
                <a:latin typeface="Calibri" pitchFamily="34" charset="0"/>
                <a:ea typeface="Calibri" pitchFamily="34" charset="-122"/>
                <a:cs typeface="Calibri" pitchFamily="34" charset="-120"/>
              </a:rPr>
              <a:t>An AI admissions counsellor who calls, counsels, books visits and follows up —</a:t>
            </a:r>
            <a:endParaRPr lang="en-US" sz="1500" dirty="0"/>
          </a:p>
          <a:p>
            <a:pPr indent="0" marL="0">
              <a:buNone/>
            </a:pPr>
            <a:r>
              <a:rPr lang="en-US" sz="1500" dirty="0">
                <a:solidFill>
                  <a:srgbClr val="C9AFA3"/>
                </a:solidFill>
                <a:latin typeface="Calibri" pitchFamily="34" charset="0"/>
                <a:ea typeface="Calibri" pitchFamily="34" charset="-122"/>
                <a:cs typeface="Calibri" pitchFamily="34" charset="-120"/>
              </a:rPr>
              <a:t>in Telugu, Hindi and English. She never sleeps, and she never resigns.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01 — TODAY</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You already run twelve departments.</a:t>
            </a:r>
            <a:endParaRPr lang="en-US" sz="3400" dirty="0"/>
          </a:p>
        </p:txBody>
      </p:sp>
      <p:sp>
        <p:nvSpPr>
          <p:cNvPr id="4" name="Shape 2"/>
          <p:cNvSpPr/>
          <p:nvPr/>
        </p:nvSpPr>
        <p:spPr>
          <a:xfrm>
            <a:off x="640080" y="1965960"/>
            <a:ext cx="2697480" cy="960120"/>
          </a:xfrm>
          <a:prstGeom prst="roundRect">
            <a:avLst>
              <a:gd name="adj" fmla="val 6667"/>
            </a:avLst>
          </a:prstGeom>
          <a:solidFill>
            <a:srgbClr val="EFE5D6"/>
          </a:solidFill>
          <a:ln w="9525">
            <a:solidFill>
              <a:srgbClr val="D9CCBB"/>
            </a:solidFill>
            <a:prstDash val="solid"/>
          </a:ln>
        </p:spPr>
      </p:sp>
      <p:sp>
        <p:nvSpPr>
          <p:cNvPr id="5" name="Text 3"/>
          <p:cNvSpPr/>
          <p:nvPr/>
        </p:nvSpPr>
        <p:spPr>
          <a:xfrm>
            <a:off x="804672"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804672"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Lead capture</a:t>
            </a:r>
            <a:endParaRPr lang="en-US" sz="1450" dirty="0"/>
          </a:p>
        </p:txBody>
      </p:sp>
      <p:sp>
        <p:nvSpPr>
          <p:cNvPr id="7" name="Shape 5"/>
          <p:cNvSpPr/>
          <p:nvPr/>
        </p:nvSpPr>
        <p:spPr>
          <a:xfrm>
            <a:off x="3465576" y="1965960"/>
            <a:ext cx="2697480" cy="960120"/>
          </a:xfrm>
          <a:prstGeom prst="roundRect">
            <a:avLst>
              <a:gd name="adj" fmla="val 6667"/>
            </a:avLst>
          </a:prstGeom>
          <a:solidFill>
            <a:srgbClr val="EFE5D6"/>
          </a:solidFill>
          <a:ln w="9525">
            <a:solidFill>
              <a:srgbClr val="D9CCBB"/>
            </a:solidFill>
            <a:prstDash val="solid"/>
          </a:ln>
        </p:spPr>
      </p:sp>
      <p:sp>
        <p:nvSpPr>
          <p:cNvPr id="8" name="Text 6"/>
          <p:cNvSpPr/>
          <p:nvPr/>
        </p:nvSpPr>
        <p:spPr>
          <a:xfrm>
            <a:off x="3630168"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02</a:t>
            </a:r>
            <a:endParaRPr lang="en-US" sz="1000" dirty="0"/>
          </a:p>
        </p:txBody>
      </p:sp>
      <p:sp>
        <p:nvSpPr>
          <p:cNvPr id="9" name="Text 7"/>
          <p:cNvSpPr/>
          <p:nvPr/>
        </p:nvSpPr>
        <p:spPr>
          <a:xfrm>
            <a:off x="3630168"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First contact</a:t>
            </a:r>
            <a:endParaRPr lang="en-US" sz="1450" dirty="0"/>
          </a:p>
        </p:txBody>
      </p:sp>
      <p:sp>
        <p:nvSpPr>
          <p:cNvPr id="10" name="Shape 8"/>
          <p:cNvSpPr/>
          <p:nvPr/>
        </p:nvSpPr>
        <p:spPr>
          <a:xfrm>
            <a:off x="6291072" y="1965960"/>
            <a:ext cx="2697480" cy="960120"/>
          </a:xfrm>
          <a:prstGeom prst="roundRect">
            <a:avLst>
              <a:gd name="adj" fmla="val 6667"/>
            </a:avLst>
          </a:prstGeom>
          <a:solidFill>
            <a:srgbClr val="EFE5D6"/>
          </a:solidFill>
          <a:ln w="9525">
            <a:solidFill>
              <a:srgbClr val="D9CCBB"/>
            </a:solidFill>
            <a:prstDash val="solid"/>
          </a:ln>
        </p:spPr>
      </p:sp>
      <p:sp>
        <p:nvSpPr>
          <p:cNvPr id="11" name="Text 9"/>
          <p:cNvSpPr/>
          <p:nvPr/>
        </p:nvSpPr>
        <p:spPr>
          <a:xfrm>
            <a:off x="6455664"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03</a:t>
            </a:r>
            <a:endParaRPr lang="en-US" sz="1000" dirty="0"/>
          </a:p>
        </p:txBody>
      </p:sp>
      <p:sp>
        <p:nvSpPr>
          <p:cNvPr id="12" name="Text 10"/>
          <p:cNvSpPr/>
          <p:nvPr/>
        </p:nvSpPr>
        <p:spPr>
          <a:xfrm>
            <a:off x="6455664"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Counselling</a:t>
            </a:r>
            <a:endParaRPr lang="en-US" sz="1450" dirty="0"/>
          </a:p>
        </p:txBody>
      </p:sp>
      <p:sp>
        <p:nvSpPr>
          <p:cNvPr id="13" name="Shape 11"/>
          <p:cNvSpPr/>
          <p:nvPr/>
        </p:nvSpPr>
        <p:spPr>
          <a:xfrm>
            <a:off x="9116568" y="1965960"/>
            <a:ext cx="2697480" cy="960120"/>
          </a:xfrm>
          <a:prstGeom prst="roundRect">
            <a:avLst>
              <a:gd name="adj" fmla="val 6667"/>
            </a:avLst>
          </a:prstGeom>
          <a:solidFill>
            <a:srgbClr val="EFE5D6"/>
          </a:solidFill>
          <a:ln w="9525">
            <a:solidFill>
              <a:srgbClr val="D9CCBB"/>
            </a:solidFill>
            <a:prstDash val="solid"/>
          </a:ln>
        </p:spPr>
      </p:sp>
      <p:sp>
        <p:nvSpPr>
          <p:cNvPr id="14" name="Text 12"/>
          <p:cNvSpPr/>
          <p:nvPr/>
        </p:nvSpPr>
        <p:spPr>
          <a:xfrm>
            <a:off x="9281160" y="2093976"/>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04</a:t>
            </a:r>
            <a:endParaRPr lang="en-US" sz="1000" dirty="0"/>
          </a:p>
        </p:txBody>
      </p:sp>
      <p:sp>
        <p:nvSpPr>
          <p:cNvPr id="15" name="Text 13"/>
          <p:cNvSpPr/>
          <p:nvPr/>
        </p:nvSpPr>
        <p:spPr>
          <a:xfrm>
            <a:off x="9281160" y="2350008"/>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Brochures</a:t>
            </a:r>
            <a:endParaRPr lang="en-US" sz="1450" dirty="0"/>
          </a:p>
        </p:txBody>
      </p:sp>
      <p:sp>
        <p:nvSpPr>
          <p:cNvPr id="16" name="Shape 14"/>
          <p:cNvSpPr/>
          <p:nvPr/>
        </p:nvSpPr>
        <p:spPr>
          <a:xfrm>
            <a:off x="640080" y="3054096"/>
            <a:ext cx="2697480" cy="960120"/>
          </a:xfrm>
          <a:prstGeom prst="roundRect">
            <a:avLst>
              <a:gd name="adj" fmla="val 6667"/>
            </a:avLst>
          </a:prstGeom>
          <a:solidFill>
            <a:srgbClr val="EFE5D6"/>
          </a:solidFill>
          <a:ln w="9525">
            <a:solidFill>
              <a:srgbClr val="D9CCBB"/>
            </a:solidFill>
            <a:prstDash val="solid"/>
          </a:ln>
        </p:spPr>
      </p:sp>
      <p:sp>
        <p:nvSpPr>
          <p:cNvPr id="17" name="Text 15"/>
          <p:cNvSpPr/>
          <p:nvPr/>
        </p:nvSpPr>
        <p:spPr>
          <a:xfrm>
            <a:off x="804672"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05</a:t>
            </a:r>
            <a:endParaRPr lang="en-US" sz="1000" dirty="0"/>
          </a:p>
        </p:txBody>
      </p:sp>
      <p:sp>
        <p:nvSpPr>
          <p:cNvPr id="18" name="Text 16"/>
          <p:cNvSpPr/>
          <p:nvPr/>
        </p:nvSpPr>
        <p:spPr>
          <a:xfrm>
            <a:off x="804672"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Campus visits</a:t>
            </a:r>
            <a:endParaRPr lang="en-US" sz="1450" dirty="0"/>
          </a:p>
        </p:txBody>
      </p:sp>
      <p:sp>
        <p:nvSpPr>
          <p:cNvPr id="19" name="Shape 17"/>
          <p:cNvSpPr/>
          <p:nvPr/>
        </p:nvSpPr>
        <p:spPr>
          <a:xfrm>
            <a:off x="3465576" y="3054096"/>
            <a:ext cx="2697480" cy="960120"/>
          </a:xfrm>
          <a:prstGeom prst="roundRect">
            <a:avLst>
              <a:gd name="adj" fmla="val 6667"/>
            </a:avLst>
          </a:prstGeom>
          <a:solidFill>
            <a:srgbClr val="EFE5D6"/>
          </a:solidFill>
          <a:ln w="9525">
            <a:solidFill>
              <a:srgbClr val="D9CCBB"/>
            </a:solidFill>
            <a:prstDash val="solid"/>
          </a:ln>
        </p:spPr>
      </p:sp>
      <p:sp>
        <p:nvSpPr>
          <p:cNvPr id="20" name="Text 18"/>
          <p:cNvSpPr/>
          <p:nvPr/>
        </p:nvSpPr>
        <p:spPr>
          <a:xfrm>
            <a:off x="3630168"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06</a:t>
            </a:r>
            <a:endParaRPr lang="en-US" sz="1000" dirty="0"/>
          </a:p>
        </p:txBody>
      </p:sp>
      <p:sp>
        <p:nvSpPr>
          <p:cNvPr id="21" name="Text 19"/>
          <p:cNvSpPr/>
          <p:nvPr/>
        </p:nvSpPr>
        <p:spPr>
          <a:xfrm>
            <a:off x="3630168"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Documents</a:t>
            </a:r>
            <a:endParaRPr lang="en-US" sz="1450" dirty="0"/>
          </a:p>
        </p:txBody>
      </p:sp>
      <p:sp>
        <p:nvSpPr>
          <p:cNvPr id="22" name="Shape 20"/>
          <p:cNvSpPr/>
          <p:nvPr/>
        </p:nvSpPr>
        <p:spPr>
          <a:xfrm>
            <a:off x="6291072" y="3054096"/>
            <a:ext cx="2697480" cy="960120"/>
          </a:xfrm>
          <a:prstGeom prst="roundRect">
            <a:avLst>
              <a:gd name="adj" fmla="val 6667"/>
            </a:avLst>
          </a:prstGeom>
          <a:solidFill>
            <a:srgbClr val="EFE5D6"/>
          </a:solidFill>
          <a:ln w="9525">
            <a:solidFill>
              <a:srgbClr val="D9CCBB"/>
            </a:solidFill>
            <a:prstDash val="solid"/>
          </a:ln>
        </p:spPr>
      </p:sp>
      <p:sp>
        <p:nvSpPr>
          <p:cNvPr id="23" name="Text 21"/>
          <p:cNvSpPr/>
          <p:nvPr/>
        </p:nvSpPr>
        <p:spPr>
          <a:xfrm>
            <a:off x="6455664"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07</a:t>
            </a:r>
            <a:endParaRPr lang="en-US" sz="1000" dirty="0"/>
          </a:p>
        </p:txBody>
      </p:sp>
      <p:sp>
        <p:nvSpPr>
          <p:cNvPr id="24" name="Text 22"/>
          <p:cNvSpPr/>
          <p:nvPr/>
        </p:nvSpPr>
        <p:spPr>
          <a:xfrm>
            <a:off x="6455664"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Data entry</a:t>
            </a:r>
            <a:endParaRPr lang="en-US" sz="1450" dirty="0"/>
          </a:p>
        </p:txBody>
      </p:sp>
      <p:sp>
        <p:nvSpPr>
          <p:cNvPr id="25" name="Shape 23"/>
          <p:cNvSpPr/>
          <p:nvPr/>
        </p:nvSpPr>
        <p:spPr>
          <a:xfrm>
            <a:off x="9116568" y="3054096"/>
            <a:ext cx="2697480" cy="960120"/>
          </a:xfrm>
          <a:prstGeom prst="roundRect">
            <a:avLst>
              <a:gd name="adj" fmla="val 6667"/>
            </a:avLst>
          </a:prstGeom>
          <a:solidFill>
            <a:srgbClr val="EFE5D6"/>
          </a:solidFill>
          <a:ln w="9525">
            <a:solidFill>
              <a:srgbClr val="D9CCBB"/>
            </a:solidFill>
            <a:prstDash val="solid"/>
          </a:ln>
        </p:spPr>
      </p:sp>
      <p:sp>
        <p:nvSpPr>
          <p:cNvPr id="26" name="Text 24"/>
          <p:cNvSpPr/>
          <p:nvPr/>
        </p:nvSpPr>
        <p:spPr>
          <a:xfrm>
            <a:off x="9281160" y="3182112"/>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08</a:t>
            </a:r>
            <a:endParaRPr lang="en-US" sz="1000" dirty="0"/>
          </a:p>
        </p:txBody>
      </p:sp>
      <p:sp>
        <p:nvSpPr>
          <p:cNvPr id="27" name="Text 25"/>
          <p:cNvSpPr/>
          <p:nvPr/>
        </p:nvSpPr>
        <p:spPr>
          <a:xfrm>
            <a:off x="9281160" y="3438144"/>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Follow-up</a:t>
            </a:r>
            <a:endParaRPr lang="en-US" sz="1450" dirty="0"/>
          </a:p>
        </p:txBody>
      </p:sp>
      <p:sp>
        <p:nvSpPr>
          <p:cNvPr id="28" name="Shape 26"/>
          <p:cNvSpPr/>
          <p:nvPr/>
        </p:nvSpPr>
        <p:spPr>
          <a:xfrm>
            <a:off x="640080" y="4142232"/>
            <a:ext cx="2697480" cy="960120"/>
          </a:xfrm>
          <a:prstGeom prst="roundRect">
            <a:avLst>
              <a:gd name="adj" fmla="val 6667"/>
            </a:avLst>
          </a:prstGeom>
          <a:solidFill>
            <a:srgbClr val="EFE5D6"/>
          </a:solidFill>
          <a:ln w="9525">
            <a:solidFill>
              <a:srgbClr val="D9CCBB"/>
            </a:solidFill>
            <a:prstDash val="solid"/>
          </a:ln>
        </p:spPr>
      </p:sp>
      <p:sp>
        <p:nvSpPr>
          <p:cNvPr id="29" name="Text 27"/>
          <p:cNvSpPr/>
          <p:nvPr/>
        </p:nvSpPr>
        <p:spPr>
          <a:xfrm>
            <a:off x="804672"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09</a:t>
            </a:r>
            <a:endParaRPr lang="en-US" sz="1000" dirty="0"/>
          </a:p>
        </p:txBody>
      </p:sp>
      <p:sp>
        <p:nvSpPr>
          <p:cNvPr id="30" name="Text 28"/>
          <p:cNvSpPr/>
          <p:nvPr/>
        </p:nvSpPr>
        <p:spPr>
          <a:xfrm>
            <a:off x="804672"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Payments</a:t>
            </a:r>
            <a:endParaRPr lang="en-US" sz="1450" dirty="0"/>
          </a:p>
        </p:txBody>
      </p:sp>
      <p:sp>
        <p:nvSpPr>
          <p:cNvPr id="31" name="Shape 29"/>
          <p:cNvSpPr/>
          <p:nvPr/>
        </p:nvSpPr>
        <p:spPr>
          <a:xfrm>
            <a:off x="3465576" y="4142232"/>
            <a:ext cx="2697480" cy="960120"/>
          </a:xfrm>
          <a:prstGeom prst="roundRect">
            <a:avLst>
              <a:gd name="adj" fmla="val 6667"/>
            </a:avLst>
          </a:prstGeom>
          <a:solidFill>
            <a:srgbClr val="EFE5D6"/>
          </a:solidFill>
          <a:ln w="9525">
            <a:solidFill>
              <a:srgbClr val="D9CCBB"/>
            </a:solidFill>
            <a:prstDash val="solid"/>
          </a:ln>
        </p:spPr>
      </p:sp>
      <p:sp>
        <p:nvSpPr>
          <p:cNvPr id="32" name="Text 30"/>
          <p:cNvSpPr/>
          <p:nvPr/>
        </p:nvSpPr>
        <p:spPr>
          <a:xfrm>
            <a:off x="3630168"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10</a:t>
            </a:r>
            <a:endParaRPr lang="en-US" sz="1000" dirty="0"/>
          </a:p>
        </p:txBody>
      </p:sp>
      <p:sp>
        <p:nvSpPr>
          <p:cNvPr id="33" name="Text 31"/>
          <p:cNvSpPr/>
          <p:nvPr/>
        </p:nvSpPr>
        <p:spPr>
          <a:xfrm>
            <a:off x="3630168"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CRM &amp; records</a:t>
            </a:r>
            <a:endParaRPr lang="en-US" sz="1450" dirty="0"/>
          </a:p>
        </p:txBody>
      </p:sp>
      <p:sp>
        <p:nvSpPr>
          <p:cNvPr id="34" name="Shape 32"/>
          <p:cNvSpPr/>
          <p:nvPr/>
        </p:nvSpPr>
        <p:spPr>
          <a:xfrm>
            <a:off x="6291072" y="4142232"/>
            <a:ext cx="2697480" cy="960120"/>
          </a:xfrm>
          <a:prstGeom prst="roundRect">
            <a:avLst>
              <a:gd name="adj" fmla="val 6667"/>
            </a:avLst>
          </a:prstGeom>
          <a:solidFill>
            <a:srgbClr val="EFE5D6"/>
          </a:solidFill>
          <a:ln w="9525">
            <a:solidFill>
              <a:srgbClr val="D9CCBB"/>
            </a:solidFill>
            <a:prstDash val="solid"/>
          </a:ln>
        </p:spPr>
      </p:sp>
      <p:sp>
        <p:nvSpPr>
          <p:cNvPr id="35" name="Text 33"/>
          <p:cNvSpPr/>
          <p:nvPr/>
        </p:nvSpPr>
        <p:spPr>
          <a:xfrm>
            <a:off x="6455664"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11</a:t>
            </a:r>
            <a:endParaRPr lang="en-US" sz="1000" dirty="0"/>
          </a:p>
        </p:txBody>
      </p:sp>
      <p:sp>
        <p:nvSpPr>
          <p:cNvPr id="36" name="Text 34"/>
          <p:cNvSpPr/>
          <p:nvPr/>
        </p:nvSpPr>
        <p:spPr>
          <a:xfrm>
            <a:off x="6455664"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Reporting</a:t>
            </a:r>
            <a:endParaRPr lang="en-US" sz="1450" dirty="0"/>
          </a:p>
        </p:txBody>
      </p:sp>
      <p:sp>
        <p:nvSpPr>
          <p:cNvPr id="37" name="Shape 35"/>
          <p:cNvSpPr/>
          <p:nvPr/>
        </p:nvSpPr>
        <p:spPr>
          <a:xfrm>
            <a:off x="9116568" y="4142232"/>
            <a:ext cx="2697480" cy="960120"/>
          </a:xfrm>
          <a:prstGeom prst="roundRect">
            <a:avLst>
              <a:gd name="adj" fmla="val 6667"/>
            </a:avLst>
          </a:prstGeom>
          <a:solidFill>
            <a:srgbClr val="EFE5D6"/>
          </a:solidFill>
          <a:ln w="9525">
            <a:solidFill>
              <a:srgbClr val="D9CCBB"/>
            </a:solidFill>
            <a:prstDash val="solid"/>
          </a:ln>
        </p:spPr>
      </p:sp>
      <p:sp>
        <p:nvSpPr>
          <p:cNvPr id="38" name="Text 36"/>
          <p:cNvSpPr/>
          <p:nvPr/>
        </p:nvSpPr>
        <p:spPr>
          <a:xfrm>
            <a:off x="9281160" y="4270248"/>
            <a:ext cx="640080" cy="274320"/>
          </a:xfrm>
          <a:prstGeom prst="rect">
            <a:avLst/>
          </a:prstGeom>
          <a:noFill/>
          <a:ln/>
        </p:spPr>
        <p:txBody>
          <a:bodyPr wrap="square" lIns="0" tIns="0" rIns="0" bIns="0" rtlCol="0" anchor="ctr"/>
          <a:lstStyle/>
          <a:p>
            <a:pPr indent="0" marL="0">
              <a:buNone/>
            </a:pPr>
            <a:r>
              <a:rPr lang="en-US" sz="1000" b="1" dirty="0">
                <a:solidFill>
                  <a:srgbClr val="A33244"/>
                </a:solidFill>
                <a:latin typeface="Calibri" pitchFamily="34" charset="0"/>
                <a:ea typeface="Calibri" pitchFamily="34" charset="-122"/>
                <a:cs typeface="Calibri" pitchFamily="34" charset="-120"/>
              </a:rPr>
              <a:t>12</a:t>
            </a:r>
            <a:endParaRPr lang="en-US" sz="1000" dirty="0"/>
          </a:p>
        </p:txBody>
      </p:sp>
      <p:sp>
        <p:nvSpPr>
          <p:cNvPr id="39" name="Text 37"/>
          <p:cNvSpPr/>
          <p:nvPr/>
        </p:nvSpPr>
        <p:spPr>
          <a:xfrm>
            <a:off x="9281160" y="4526280"/>
            <a:ext cx="2377440" cy="457200"/>
          </a:xfrm>
          <a:prstGeom prst="rect">
            <a:avLst/>
          </a:prstGeom>
          <a:noFill/>
          <a:ln/>
        </p:spPr>
        <p:txBody>
          <a:bodyPr wrap="square" lIns="0" tIns="0" rIns="0" bIns="0" rtlCol="0" anchor="ctr"/>
          <a:lstStyle/>
          <a:p>
            <a:pPr indent="0" marL="0">
              <a:buNone/>
            </a:pPr>
            <a:r>
              <a:rPr lang="en-US" sz="1450" b="1" dirty="0">
                <a:solidFill>
                  <a:srgbClr val="2A211C"/>
                </a:solidFill>
                <a:latin typeface="Calibri" pitchFamily="34" charset="0"/>
                <a:ea typeface="Calibri" pitchFamily="34" charset="-122"/>
                <a:cs typeface="Calibri" pitchFamily="34" charset="-120"/>
              </a:rPr>
              <a:t>Post-admission</a:t>
            </a:r>
            <a:endParaRPr lang="en-US" sz="1450" dirty="0"/>
          </a:p>
        </p:txBody>
      </p:sp>
      <p:sp>
        <p:nvSpPr>
          <p:cNvPr id="40" name="Text 38"/>
          <p:cNvSpPr/>
          <p:nvPr/>
        </p:nvSpPr>
        <p:spPr>
          <a:xfrm>
            <a:off x="640080" y="5623560"/>
            <a:ext cx="10972800" cy="457200"/>
          </a:xfrm>
          <a:prstGeom prst="rect">
            <a:avLst/>
          </a:prstGeom>
          <a:noFill/>
          <a:ln/>
        </p:spPr>
        <p:txBody>
          <a:bodyPr wrap="square" lIns="0" tIns="0" rIns="0" bIns="0" rtlCol="0" anchor="ctr"/>
          <a:lstStyle/>
          <a:p>
            <a:pPr indent="0" marL="0">
              <a:buNone/>
            </a:pPr>
            <a:r>
              <a:rPr lang="en-US" sz="1500" i="1" dirty="0">
                <a:solidFill>
                  <a:srgbClr val="6E6058"/>
                </a:solidFill>
                <a:latin typeface="Calibri" pitchFamily="34" charset="0"/>
                <a:ea typeface="Calibri" pitchFamily="34" charset="-122"/>
                <a:cs typeface="Calibri" pitchFamily="34" charset="-120"/>
              </a:rPr>
              <a:t>Every one of them staffed, salaried — and stretched thin exactly when admissions peak.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02 — THE LEAK</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Where admissions quietly leak away</a:t>
            </a:r>
            <a:endParaRPr lang="en-US" sz="3400" dirty="0"/>
          </a:p>
        </p:txBody>
      </p:sp>
      <p:sp>
        <p:nvSpPr>
          <p:cNvPr id="4" name="Shape 2"/>
          <p:cNvSpPr/>
          <p:nvPr/>
        </p:nvSpPr>
        <p:spPr>
          <a:xfrm>
            <a:off x="640080" y="1993392"/>
            <a:ext cx="457200" cy="457200"/>
          </a:xfrm>
          <a:prstGeom prst="ellipse">
            <a:avLst/>
          </a:prstGeom>
          <a:solidFill>
            <a:srgbClr val="6E1B2A"/>
          </a:solidFill>
          <a:ln/>
        </p:spPr>
      </p:sp>
      <p:sp>
        <p:nvSpPr>
          <p:cNvPr id="5" name="Text 3"/>
          <p:cNvSpPr/>
          <p:nvPr/>
        </p:nvSpPr>
        <p:spPr>
          <a:xfrm>
            <a:off x="640080" y="199339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25880" y="192024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The 8:47 PM enquiry</a:t>
            </a:r>
            <a:endParaRPr lang="en-US" sz="1600" dirty="0"/>
          </a:p>
        </p:txBody>
      </p:sp>
      <p:sp>
        <p:nvSpPr>
          <p:cNvPr id="7" name="Text 5"/>
          <p:cNvSpPr/>
          <p:nvPr/>
        </p:nvSpPr>
        <p:spPr>
          <a:xfrm>
            <a:off x="1325880" y="224942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A parent fills your form at night. The office opens at 9:30 tomorrow. By noon, they have spoken to another college.</a:t>
            </a:r>
            <a:endParaRPr lang="en-US" sz="1350" dirty="0"/>
          </a:p>
        </p:txBody>
      </p:sp>
      <p:sp>
        <p:nvSpPr>
          <p:cNvPr id="8" name="Shape 6"/>
          <p:cNvSpPr/>
          <p:nvPr/>
        </p:nvSpPr>
        <p:spPr>
          <a:xfrm>
            <a:off x="640080" y="3044952"/>
            <a:ext cx="457200" cy="457200"/>
          </a:xfrm>
          <a:prstGeom prst="ellipse">
            <a:avLst/>
          </a:prstGeom>
          <a:solidFill>
            <a:srgbClr val="6E1B2A"/>
          </a:solidFill>
          <a:ln/>
        </p:spPr>
      </p:sp>
      <p:sp>
        <p:nvSpPr>
          <p:cNvPr id="9" name="Text 7"/>
          <p:cNvSpPr/>
          <p:nvPr/>
        </p:nvSpPr>
        <p:spPr>
          <a:xfrm>
            <a:off x="640080" y="304495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325880" y="297180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200 dials, 26 conversations</a:t>
            </a:r>
            <a:endParaRPr lang="en-US" sz="1600" dirty="0"/>
          </a:p>
        </p:txBody>
      </p:sp>
      <p:sp>
        <p:nvSpPr>
          <p:cNvPr id="11" name="Text 9"/>
          <p:cNvSpPr/>
          <p:nvPr/>
        </p:nvSpPr>
        <p:spPr>
          <a:xfrm>
            <a:off x="1325880" y="330098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That is a full day for one telecaller. The other 174 families wait for a redial that may never come.</a:t>
            </a:r>
            <a:endParaRPr lang="en-US" sz="1350" dirty="0"/>
          </a:p>
        </p:txBody>
      </p:sp>
      <p:sp>
        <p:nvSpPr>
          <p:cNvPr id="12" name="Shape 10"/>
          <p:cNvSpPr/>
          <p:nvPr/>
        </p:nvSpPr>
        <p:spPr>
          <a:xfrm>
            <a:off x="640080" y="4096512"/>
            <a:ext cx="457200" cy="457200"/>
          </a:xfrm>
          <a:prstGeom prst="ellipse">
            <a:avLst/>
          </a:prstGeom>
          <a:solidFill>
            <a:srgbClr val="6E1B2A"/>
          </a:solidFill>
          <a:ln/>
        </p:spPr>
      </p:sp>
      <p:sp>
        <p:nvSpPr>
          <p:cNvPr id="13" name="Text 11"/>
          <p:cNvSpPr/>
          <p:nvPr/>
        </p:nvSpPr>
        <p:spPr>
          <a:xfrm>
            <a:off x="640080" y="409651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325880" y="402336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Attrition in peak season</a:t>
            </a:r>
            <a:endParaRPr lang="en-US" sz="1600" dirty="0"/>
          </a:p>
        </p:txBody>
      </p:sp>
      <p:sp>
        <p:nvSpPr>
          <p:cNvPr id="15" name="Text 13"/>
          <p:cNvSpPr/>
          <p:nvPr/>
        </p:nvSpPr>
        <p:spPr>
          <a:xfrm>
            <a:off x="1325880" y="435254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A counsellor resigns in March. You retrain a replacement during the exact weeks admissions are won or lost.</a:t>
            </a:r>
            <a:endParaRPr lang="en-US" sz="1350" dirty="0"/>
          </a:p>
        </p:txBody>
      </p:sp>
      <p:sp>
        <p:nvSpPr>
          <p:cNvPr id="16" name="Shape 14"/>
          <p:cNvSpPr/>
          <p:nvPr/>
        </p:nvSpPr>
        <p:spPr>
          <a:xfrm>
            <a:off x="640080" y="5148072"/>
            <a:ext cx="457200" cy="457200"/>
          </a:xfrm>
          <a:prstGeom prst="ellipse">
            <a:avLst/>
          </a:prstGeom>
          <a:solidFill>
            <a:srgbClr val="6E1B2A"/>
          </a:solidFill>
          <a:ln/>
        </p:spPr>
      </p:sp>
      <p:sp>
        <p:nvSpPr>
          <p:cNvPr id="17" name="Text 15"/>
          <p:cNvSpPr/>
          <p:nvPr/>
        </p:nvSpPr>
        <p:spPr>
          <a:xfrm>
            <a:off x="640080" y="5148072"/>
            <a:ext cx="457200" cy="457200"/>
          </a:xfrm>
          <a:prstGeom prst="rect">
            <a:avLst/>
          </a:prstGeom>
          <a:noFill/>
          <a:ln/>
        </p:spPr>
        <p:txBody>
          <a:bodyPr wrap="square" lIns="0" tIns="0" rIns="0" bIns="0" rtlCol="0" anchor="ctr"/>
          <a:lstStyle/>
          <a:p>
            <a:pPr algn="ctr" indent="0" marL="0">
              <a:buNone/>
            </a:pPr>
            <a:r>
              <a:rPr lang="en-US" sz="1500" b="1" dirty="0">
                <a:solidFill>
                  <a:srgbClr val="F3E9DC"/>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325880" y="5074920"/>
            <a:ext cx="10058400" cy="320040"/>
          </a:xfrm>
          <a:prstGeom prst="rect">
            <a:avLst/>
          </a:prstGeom>
          <a:noFill/>
          <a:ln/>
        </p:spPr>
        <p:txBody>
          <a:bodyPr wrap="square" lIns="0" tIns="0" rIns="0" bIns="0" rtlCol="0" anchor="ctr"/>
          <a:lstStyle/>
          <a:p>
            <a:pPr indent="0" marL="0">
              <a:buNone/>
            </a:pPr>
            <a:r>
              <a:rPr lang="en-US" sz="1600" b="1" dirty="0">
                <a:solidFill>
                  <a:srgbClr val="2A211C"/>
                </a:solidFill>
                <a:latin typeface="Calibri" pitchFamily="34" charset="0"/>
                <a:ea typeface="Calibri" pitchFamily="34" charset="-122"/>
                <a:cs typeface="Calibri" pitchFamily="34" charset="-120"/>
              </a:rPr>
              <a:t>The forgotten follow-up</a:t>
            </a:r>
            <a:endParaRPr lang="en-US" sz="1600" dirty="0"/>
          </a:p>
        </p:txBody>
      </p:sp>
      <p:sp>
        <p:nvSpPr>
          <p:cNvPr id="19" name="Text 17"/>
          <p:cNvSpPr/>
          <p:nvPr/>
        </p:nvSpPr>
        <p:spPr>
          <a:xfrm>
            <a:off x="1325880" y="5404104"/>
            <a:ext cx="10241280" cy="548640"/>
          </a:xfrm>
          <a:prstGeom prst="rect">
            <a:avLst/>
          </a:prstGeom>
          <a:noFill/>
          <a:ln/>
        </p:spPr>
        <p:txBody>
          <a:bodyPr wrap="square" lIns="0" tIns="0" rIns="0" bIns="0" rtlCol="0" anchor="ctr"/>
          <a:lstStyle/>
          <a:p>
            <a:pPr indent="0" marL="0">
              <a:buNone/>
            </a:pPr>
            <a:r>
              <a:rPr lang="en-US" sz="1350" dirty="0">
                <a:solidFill>
                  <a:srgbClr val="6E6058"/>
                </a:solidFill>
                <a:latin typeface="Calibri" pitchFamily="34" charset="0"/>
                <a:ea typeface="Calibri" pitchFamily="34" charset="-122"/>
                <a:cs typeface="Calibri" pitchFamily="34" charset="-120"/>
              </a:rPr>
              <a:t>"Call me Thursday evening," the parent said. It went into a register. Registers do not ring.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03 — WHAT IT COSTS YOU</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The leak has a price tag</a:t>
            </a:r>
            <a:endParaRPr lang="en-US" sz="3400" dirty="0"/>
          </a:p>
        </p:txBody>
      </p:sp>
      <p:sp>
        <p:nvSpPr>
          <p:cNvPr id="4" name="Shape 2"/>
          <p:cNvSpPr/>
          <p:nvPr/>
        </p:nvSpPr>
        <p:spPr>
          <a:xfrm>
            <a:off x="640080" y="1920240"/>
            <a:ext cx="5120640" cy="3840480"/>
          </a:xfrm>
          <a:prstGeom prst="roundRect">
            <a:avLst>
              <a:gd name="adj" fmla="val 1905"/>
            </a:avLst>
          </a:prstGeom>
          <a:solidFill>
            <a:srgbClr val="EFE5D6"/>
          </a:solidFill>
          <a:ln w="9525">
            <a:solidFill>
              <a:srgbClr val="D9CCBB"/>
            </a:solidFill>
            <a:prstDash val="solid"/>
          </a:ln>
        </p:spPr>
      </p:sp>
      <p:sp>
        <p:nvSpPr>
          <p:cNvPr id="5" name="Text 3"/>
          <p:cNvSpPr/>
          <p:nvPr/>
        </p:nvSpPr>
        <p:spPr>
          <a:xfrm>
            <a:off x="914400" y="2148840"/>
            <a:ext cx="4572000" cy="365760"/>
          </a:xfrm>
          <a:prstGeom prst="rect">
            <a:avLst/>
          </a:prstGeom>
          <a:noFill/>
          <a:ln/>
        </p:spPr>
        <p:txBody>
          <a:bodyPr wrap="square" lIns="0" tIns="0" rIns="0" bIns="0" rtlCol="0" anchor="ctr"/>
          <a:lstStyle/>
          <a:p>
            <a:pPr indent="0" marL="0">
              <a:buNone/>
            </a:pPr>
            <a:r>
              <a:rPr lang="en-US" sz="1400" b="1" dirty="0">
                <a:solidFill>
                  <a:srgbClr val="2A211C"/>
                </a:solidFill>
                <a:latin typeface="Calibri" pitchFamily="34" charset="0"/>
                <a:ea typeface="Calibri" pitchFamily="34" charset="-122"/>
                <a:cs typeface="Calibri" pitchFamily="34" charset="-120"/>
              </a:rPr>
              <a:t>The team you pay to hold the line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14400" y="2651760"/>
          <a:ext cx="4572000" cy="914400"/>
        </p:xfrm>
        <a:graphic>
          <a:graphicData uri="http://schemas.openxmlformats.org/drawingml/2006/table">
            <a:tbl>
              <a:tblPr/>
              <a:tblGrid>
                <a:gridCol w="2103120"/>
                <a:gridCol w="2468880"/>
              </a:tblGrid>
              <a:tr h="457200">
                <a:tc>
                  <a:txBody>
                    <a:bodyPr/>
                    <a:lstStyle/>
                    <a:p>
                      <a:pPr indent="0" marL="0">
                        <a:buNone/>
                      </a:pPr>
                      <a:r>
                        <a:rPr lang="en-US" sz="1400" b="1" dirty="0">
                          <a:solidFill>
                            <a:srgbClr val="2A211C"/>
                          </a:solidFill>
                          <a:latin typeface="Calibri" pitchFamily="34" charset="0"/>
                          <a:ea typeface="Calibri" pitchFamily="34" charset="-122"/>
                          <a:cs typeface="Calibri" pitchFamily="34" charset="-120"/>
                        </a:rPr>
                        <a:t>Team size</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b="1" dirty="0">
                          <a:solidFill>
                            <a:srgbClr val="2A211C"/>
                          </a:solidFill>
                          <a:latin typeface="Calibri" pitchFamily="34" charset="0"/>
                          <a:ea typeface="Calibri" pitchFamily="34" charset="-122"/>
                          <a:cs typeface="Calibri" pitchFamily="34" charset="-120"/>
                        </a:rPr>
                        <a:t>Monthly salary bill</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r h="457200">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5 members</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₹75,000</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r h="457200">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15 members</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₹2,25,000</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r h="457200">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30 members</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c>
                  <a:txBody>
                    <a:bodyPr/>
                    <a:lstStyle/>
                    <a:p>
                      <a:pPr indent="0" marL="0">
                        <a:buNone/>
                      </a:pPr>
                      <a:r>
                        <a:rPr lang="en-US" sz="1400" dirty="0">
                          <a:solidFill>
                            <a:srgbClr val="2A211C"/>
                          </a:solidFill>
                          <a:latin typeface="Calibri" pitchFamily="34" charset="0"/>
                          <a:ea typeface="Calibri" pitchFamily="34" charset="-122"/>
                          <a:cs typeface="Calibri" pitchFamily="34" charset="-120"/>
                        </a:rPr>
                        <a:t>₹4,50,000</a:t>
                      </a:r>
                      <a:endParaRPr lang="en-US" sz="140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6F0E7"/>
                    </a:solidFill>
                  </a:tcPr>
                </a:tc>
              </a:tr>
            </a:tbl>
          </a:graphicData>
        </a:graphic>
      </p:graphicFrame>
      <p:sp>
        <p:nvSpPr>
          <p:cNvPr id="7" name="Text 4"/>
          <p:cNvSpPr/>
          <p:nvPr/>
        </p:nvSpPr>
        <p:spPr>
          <a:xfrm>
            <a:off x="914400" y="5120640"/>
            <a:ext cx="4572000" cy="548640"/>
          </a:xfrm>
          <a:prstGeom prst="rect">
            <a:avLst/>
          </a:prstGeom>
          <a:noFill/>
          <a:ln/>
        </p:spPr>
        <p:txBody>
          <a:bodyPr wrap="square" lIns="0" tIns="0" rIns="0" bIns="0" rtlCol="0" anchor="ctr"/>
          <a:lstStyle/>
          <a:p>
            <a:pPr indent="0" marL="0">
              <a:buNone/>
            </a:pPr>
            <a:r>
              <a:rPr lang="en-US" sz="1100" i="1" dirty="0">
                <a:solidFill>
                  <a:srgbClr val="6E6058"/>
                </a:solidFill>
                <a:latin typeface="Calibri" pitchFamily="34" charset="0"/>
                <a:ea typeface="Calibri" pitchFamily="34" charset="-122"/>
                <a:cs typeface="Calibri" pitchFamily="34" charset="-120"/>
              </a:rPr>
              <a:t>at a nominal ₹15,000 per person — before bonuses, before replacements hired in a rush</a:t>
            </a:r>
            <a:endParaRPr lang="en-US" sz="1100" dirty="0"/>
          </a:p>
        </p:txBody>
      </p:sp>
      <p:sp>
        <p:nvSpPr>
          <p:cNvPr id="8" name="Shape 5"/>
          <p:cNvSpPr/>
          <p:nvPr/>
        </p:nvSpPr>
        <p:spPr>
          <a:xfrm>
            <a:off x="6172200" y="1920240"/>
            <a:ext cx="5394960" cy="3840480"/>
          </a:xfrm>
          <a:prstGeom prst="roundRect">
            <a:avLst>
              <a:gd name="adj" fmla="val 1905"/>
            </a:avLst>
          </a:prstGeom>
          <a:solidFill>
            <a:srgbClr val="6E1B2A"/>
          </a:solidFill>
          <a:ln/>
        </p:spPr>
      </p:sp>
      <p:sp>
        <p:nvSpPr>
          <p:cNvPr id="9" name="Text 6"/>
          <p:cNvSpPr/>
          <p:nvPr/>
        </p:nvSpPr>
        <p:spPr>
          <a:xfrm>
            <a:off x="6537960" y="2240280"/>
            <a:ext cx="4754880" cy="365760"/>
          </a:xfrm>
          <a:prstGeom prst="rect">
            <a:avLst/>
          </a:prstGeom>
          <a:noFill/>
          <a:ln/>
        </p:spPr>
        <p:txBody>
          <a:bodyPr wrap="square" lIns="0" tIns="0" rIns="0" bIns="0" rtlCol="0" anchor="ctr"/>
          <a:lstStyle/>
          <a:p>
            <a:pPr indent="0" marL="0">
              <a:buNone/>
            </a:pPr>
            <a:r>
              <a:rPr lang="en-US" sz="1400" b="1" dirty="0">
                <a:solidFill>
                  <a:srgbClr val="C9AFA3"/>
                </a:solidFill>
                <a:latin typeface="Calibri" pitchFamily="34" charset="0"/>
                <a:ea typeface="Calibri" pitchFamily="34" charset="-122"/>
                <a:cs typeface="Calibri" pitchFamily="34" charset="-120"/>
              </a:rPr>
              <a:t>And the bigger number:</a:t>
            </a:r>
            <a:endParaRPr lang="en-US" sz="1400" dirty="0"/>
          </a:p>
        </p:txBody>
      </p:sp>
      <p:sp>
        <p:nvSpPr>
          <p:cNvPr id="10" name="Text 7"/>
          <p:cNvSpPr/>
          <p:nvPr/>
        </p:nvSpPr>
        <p:spPr>
          <a:xfrm>
            <a:off x="6537960" y="2697480"/>
            <a:ext cx="4754880" cy="914400"/>
          </a:xfrm>
          <a:prstGeom prst="rect">
            <a:avLst/>
          </a:prstGeom>
          <a:noFill/>
          <a:ln/>
        </p:spPr>
        <p:txBody>
          <a:bodyPr wrap="square" lIns="0" tIns="0" rIns="0" bIns="0" rtlCol="0" anchor="ctr"/>
          <a:lstStyle/>
          <a:p>
            <a:pPr indent="0" marL="0">
              <a:buNone/>
            </a:pPr>
            <a:r>
              <a:rPr lang="en-US" sz="5400" b="1" dirty="0">
                <a:solidFill>
                  <a:srgbClr val="F3E9DC"/>
                </a:solidFill>
                <a:latin typeface="Cambria" pitchFamily="34" charset="0"/>
                <a:ea typeface="Cambria" pitchFamily="34" charset="-122"/>
                <a:cs typeface="Cambria" pitchFamily="34" charset="-120"/>
              </a:rPr>
              <a:t>₹1.5–3 lakh</a:t>
            </a:r>
            <a:endParaRPr lang="en-US" sz="5400" dirty="0"/>
          </a:p>
        </p:txBody>
      </p:sp>
      <p:sp>
        <p:nvSpPr>
          <p:cNvPr id="11" name="Text 8"/>
          <p:cNvSpPr/>
          <p:nvPr/>
        </p:nvSpPr>
        <p:spPr>
          <a:xfrm>
            <a:off x="6537960" y="3749040"/>
            <a:ext cx="4754880" cy="731520"/>
          </a:xfrm>
          <a:prstGeom prst="rect">
            <a:avLst/>
          </a:prstGeom>
          <a:noFill/>
          <a:ln/>
        </p:spPr>
        <p:txBody>
          <a:bodyPr wrap="square" lIns="0" tIns="0" rIns="0" bIns="0" rtlCol="0" anchor="ctr"/>
          <a:lstStyle/>
          <a:p>
            <a:pPr indent="0" marL="0">
              <a:buNone/>
            </a:pPr>
            <a:r>
              <a:rPr lang="en-US" sz="1500" dirty="0">
                <a:solidFill>
                  <a:srgbClr val="F3E9DC"/>
                </a:solidFill>
                <a:latin typeface="Calibri" pitchFamily="34" charset="0"/>
                <a:ea typeface="Calibri" pitchFamily="34" charset="-122"/>
                <a:cs typeface="Calibri" pitchFamily="34" charset="-120"/>
              </a:rPr>
              <a:t>the two-year fee value of ONE admission</a:t>
            </a:r>
            <a:endParaRPr lang="en-US" sz="1500" dirty="0"/>
          </a:p>
          <a:p>
            <a:pPr indent="0" marL="0">
              <a:buNone/>
            </a:pPr>
            <a:r>
              <a:rPr lang="en-US" sz="1500" dirty="0">
                <a:solidFill>
                  <a:srgbClr val="F3E9DC"/>
                </a:solidFill>
                <a:latin typeface="Calibri" pitchFamily="34" charset="0"/>
                <a:ea typeface="Calibri" pitchFamily="34" charset="-122"/>
                <a:cs typeface="Calibri" pitchFamily="34" charset="-120"/>
              </a:rPr>
              <a:t>lost to a slow callback</a:t>
            </a:r>
            <a:endParaRPr lang="en-US" sz="1500" dirty="0"/>
          </a:p>
        </p:txBody>
      </p:sp>
      <p:sp>
        <p:nvSpPr>
          <p:cNvPr id="12" name="Text 9"/>
          <p:cNvSpPr/>
          <p:nvPr/>
        </p:nvSpPr>
        <p:spPr>
          <a:xfrm>
            <a:off x="6537960" y="4892040"/>
            <a:ext cx="4754880" cy="640080"/>
          </a:xfrm>
          <a:prstGeom prst="rect">
            <a:avLst/>
          </a:prstGeom>
          <a:noFill/>
          <a:ln/>
        </p:spPr>
        <p:txBody>
          <a:bodyPr wrap="square" lIns="0" tIns="0" rIns="0" bIns="0" rtlCol="0" anchor="ctr"/>
          <a:lstStyle/>
          <a:p>
            <a:pPr indent="0" marL="0">
              <a:buNone/>
            </a:pPr>
            <a:r>
              <a:rPr lang="en-US" sz="1250" i="1" dirty="0">
                <a:solidFill>
                  <a:srgbClr val="C9AFA3"/>
                </a:solidFill>
                <a:latin typeface="Calibri" pitchFamily="34" charset="0"/>
                <a:ea typeface="Calibri" pitchFamily="34" charset="-122"/>
                <a:cs typeface="Calibri" pitchFamily="34" charset="-120"/>
              </a:rPr>
              <a:t>Lose one a month in season, and the leak costs more than the whole team.</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E1220"/>
        </a:solidFill>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indent="0" marL="0">
              <a:buNone/>
            </a:pPr>
            <a:r>
              <a:rPr lang="en-US" sz="1100" b="1" spc="300" kern="0" dirty="0">
                <a:solidFill>
                  <a:srgbClr val="E4A3AE"/>
                </a:solidFill>
                <a:latin typeface="Calibri" pitchFamily="34" charset="0"/>
                <a:ea typeface="Calibri" pitchFamily="34" charset="-122"/>
                <a:cs typeface="Calibri" pitchFamily="34" charset="-120"/>
              </a:rPr>
              <a:t>04 — THE COUNSELLOR WHO NEVER CLOCKS OUT</a:t>
            </a:r>
            <a:endParaRPr lang="en-US" sz="1100" dirty="0"/>
          </a:p>
        </p:txBody>
      </p:sp>
      <p:sp>
        <p:nvSpPr>
          <p:cNvPr id="3" name="Text 1"/>
          <p:cNvSpPr/>
          <p:nvPr/>
        </p:nvSpPr>
        <p:spPr>
          <a:xfrm>
            <a:off x="640080" y="1234440"/>
            <a:ext cx="10972800" cy="1097280"/>
          </a:xfrm>
          <a:prstGeom prst="rect">
            <a:avLst/>
          </a:prstGeom>
          <a:noFill/>
          <a:ln/>
        </p:spPr>
        <p:txBody>
          <a:bodyPr wrap="square" lIns="0" tIns="0" rIns="0" bIns="0" rtlCol="0" anchor="ctr"/>
          <a:lstStyle/>
          <a:p>
            <a:pPr indent="0" marL="0">
              <a:buNone/>
            </a:pPr>
            <a:r>
              <a:rPr lang="en-US" sz="6000" b="1" dirty="0">
                <a:solidFill>
                  <a:srgbClr val="F3E9DC"/>
                </a:solidFill>
                <a:latin typeface="Cambria" pitchFamily="34" charset="0"/>
                <a:ea typeface="Cambria" pitchFamily="34" charset="-122"/>
                <a:cs typeface="Cambria" pitchFamily="34" charset="-120"/>
              </a:rPr>
              <a:t>Meet Sneha.</a:t>
            </a:r>
            <a:endParaRPr lang="en-US" sz="6000" dirty="0"/>
          </a:p>
        </p:txBody>
      </p:sp>
      <p:sp>
        <p:nvSpPr>
          <p:cNvPr id="4" name="Shape 2"/>
          <p:cNvSpPr/>
          <p:nvPr/>
        </p:nvSpPr>
        <p:spPr>
          <a:xfrm>
            <a:off x="713232" y="2852928"/>
            <a:ext cx="146304" cy="146304"/>
          </a:xfrm>
          <a:prstGeom prst="ellipse">
            <a:avLst/>
          </a:prstGeom>
          <a:solidFill>
            <a:srgbClr val="E4A3AE"/>
          </a:solidFill>
          <a:ln/>
        </p:spPr>
      </p:sp>
      <p:sp>
        <p:nvSpPr>
          <p:cNvPr id="5" name="Text 3"/>
          <p:cNvSpPr/>
          <p:nvPr/>
        </p:nvSpPr>
        <p:spPr>
          <a:xfrm>
            <a:off x="1051560" y="2743200"/>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Answers a parent in about one second — like a person, not a menu</a:t>
            </a:r>
            <a:endParaRPr lang="en-US" sz="1700" dirty="0"/>
          </a:p>
        </p:txBody>
      </p:sp>
      <p:sp>
        <p:nvSpPr>
          <p:cNvPr id="6" name="Shape 4"/>
          <p:cNvSpPr/>
          <p:nvPr/>
        </p:nvSpPr>
        <p:spPr>
          <a:xfrm>
            <a:off x="713232" y="3511296"/>
            <a:ext cx="146304" cy="146304"/>
          </a:xfrm>
          <a:prstGeom prst="ellipse">
            <a:avLst/>
          </a:prstGeom>
          <a:solidFill>
            <a:srgbClr val="E4A3AE"/>
          </a:solidFill>
          <a:ln/>
        </p:spPr>
      </p:sp>
      <p:sp>
        <p:nvSpPr>
          <p:cNvPr id="7" name="Text 5"/>
          <p:cNvSpPr/>
          <p:nvPr/>
        </p:nvSpPr>
        <p:spPr>
          <a:xfrm>
            <a:off x="1051560" y="3401568"/>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Speaks Telugu, Hindi and English — and switches the moment the parent does</a:t>
            </a:r>
            <a:endParaRPr lang="en-US" sz="1700" dirty="0"/>
          </a:p>
        </p:txBody>
      </p:sp>
      <p:sp>
        <p:nvSpPr>
          <p:cNvPr id="8" name="Shape 6"/>
          <p:cNvSpPr/>
          <p:nvPr/>
        </p:nvSpPr>
        <p:spPr>
          <a:xfrm>
            <a:off x="713232" y="4169664"/>
            <a:ext cx="146304" cy="146304"/>
          </a:xfrm>
          <a:prstGeom prst="ellipse">
            <a:avLst/>
          </a:prstGeom>
          <a:solidFill>
            <a:srgbClr val="E4A3AE"/>
          </a:solidFill>
          <a:ln/>
        </p:spPr>
      </p:sp>
      <p:sp>
        <p:nvSpPr>
          <p:cNvPr id="9" name="Text 7"/>
          <p:cNvSpPr/>
          <p:nvPr/>
        </p:nvSpPr>
        <p:spPr>
          <a:xfrm>
            <a:off x="1051560" y="4059936"/>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Remembers every family, every earlier call, every objection</a:t>
            </a:r>
            <a:endParaRPr lang="en-US" sz="1700" dirty="0"/>
          </a:p>
        </p:txBody>
      </p:sp>
      <p:sp>
        <p:nvSpPr>
          <p:cNvPr id="10" name="Shape 8"/>
          <p:cNvSpPr/>
          <p:nvPr/>
        </p:nvSpPr>
        <p:spPr>
          <a:xfrm>
            <a:off x="713232" y="4828032"/>
            <a:ext cx="146304" cy="146304"/>
          </a:xfrm>
          <a:prstGeom prst="ellipse">
            <a:avLst/>
          </a:prstGeom>
          <a:solidFill>
            <a:srgbClr val="E4A3AE"/>
          </a:solidFill>
          <a:ln/>
        </p:spPr>
      </p:sp>
      <p:sp>
        <p:nvSpPr>
          <p:cNvPr id="11" name="Text 9"/>
          <p:cNvSpPr/>
          <p:nvPr/>
        </p:nvSpPr>
        <p:spPr>
          <a:xfrm>
            <a:off x="1051560" y="4718304"/>
            <a:ext cx="10332720" cy="502920"/>
          </a:xfrm>
          <a:prstGeom prst="rect">
            <a:avLst/>
          </a:prstGeom>
          <a:noFill/>
          <a:ln/>
        </p:spPr>
        <p:txBody>
          <a:bodyPr wrap="square" lIns="0" tIns="0" rIns="0" bIns="0" rtlCol="0" anchor="ctr"/>
          <a:lstStyle/>
          <a:p>
            <a:pPr indent="0" marL="0">
              <a:buNone/>
            </a:pPr>
            <a:r>
              <a:rPr lang="en-US" sz="1700" dirty="0">
                <a:solidFill>
                  <a:srgbClr val="F3E9DC"/>
                </a:solidFill>
                <a:latin typeface="Calibri" pitchFamily="34" charset="0"/>
                <a:ea typeface="Calibri" pitchFamily="34" charset="-122"/>
                <a:cs typeface="Calibri" pitchFamily="34" charset="-120"/>
              </a:rPr>
              <a:t>Works at 8:47 PM. And on Sundays. And through peak season. Without resigning.</a:t>
            </a:r>
            <a:endParaRPr lang="en-US" sz="1700" dirty="0"/>
          </a:p>
        </p:txBody>
      </p:sp>
      <p:sp>
        <p:nvSpPr>
          <p:cNvPr id="12" name="Text 10"/>
          <p:cNvSpPr/>
          <p:nvPr/>
        </p:nvSpPr>
        <p:spPr>
          <a:xfrm>
            <a:off x="640080" y="5806440"/>
            <a:ext cx="10881360" cy="457200"/>
          </a:xfrm>
          <a:prstGeom prst="rect">
            <a:avLst/>
          </a:prstGeom>
          <a:noFill/>
          <a:ln/>
        </p:spPr>
        <p:txBody>
          <a:bodyPr wrap="square" lIns="0" tIns="0" rIns="0" bIns="0" rtlCol="0" anchor="ctr"/>
          <a:lstStyle/>
          <a:p>
            <a:pPr indent="0" marL="0">
              <a:buNone/>
            </a:pPr>
            <a:r>
              <a:rPr lang="en-US" sz="1900" b="1" i="1" dirty="0">
                <a:solidFill>
                  <a:srgbClr val="E4A3AE"/>
                </a:solidFill>
                <a:latin typeface="Cambria" pitchFamily="34" charset="0"/>
                <a:ea typeface="Cambria" pitchFamily="34" charset="-122"/>
                <a:cs typeface="Cambria" pitchFamily="34" charset="-120"/>
              </a:rPr>
              <a:t>She is not a slide. You will talk to her in this meeting.</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05 — IN THEIR LANGUAGE</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The conversation parents actually want</a:t>
            </a:r>
            <a:endParaRPr lang="en-US" sz="3400" dirty="0"/>
          </a:p>
        </p:txBody>
      </p:sp>
      <p:sp>
        <p:nvSpPr>
          <p:cNvPr id="4" name="Shape 2"/>
          <p:cNvSpPr/>
          <p:nvPr/>
        </p:nvSpPr>
        <p:spPr>
          <a:xfrm>
            <a:off x="640080" y="1920240"/>
            <a:ext cx="6675120" cy="4114800"/>
          </a:xfrm>
          <a:prstGeom prst="roundRect">
            <a:avLst>
              <a:gd name="adj" fmla="val 1778"/>
            </a:avLst>
          </a:prstGeom>
          <a:solidFill>
            <a:srgbClr val="3A2A24"/>
          </a:solidFill>
          <a:ln/>
        </p:spPr>
      </p:sp>
      <p:sp>
        <p:nvSpPr>
          <p:cNvPr id="5" name="Text 3"/>
          <p:cNvSpPr/>
          <p:nvPr/>
        </p:nvSpPr>
        <p:spPr>
          <a:xfrm>
            <a:off x="960120" y="2194560"/>
            <a:ext cx="6035040" cy="256032"/>
          </a:xfrm>
          <a:prstGeom prst="rect">
            <a:avLst/>
          </a:prstGeom>
          <a:noFill/>
          <a:ln/>
        </p:spPr>
        <p:txBody>
          <a:bodyPr wrap="square" lIns="0" tIns="0" rIns="0" bIns="0" rtlCol="0" anchor="ctr"/>
          <a:lstStyle/>
          <a:p>
            <a:pPr indent="0" marL="0">
              <a:buNone/>
            </a:pPr>
            <a:r>
              <a:rPr lang="en-US" sz="1000" b="1" spc="200" kern="0" dirty="0">
                <a:solidFill>
                  <a:srgbClr val="E4A3AE"/>
                </a:solidFill>
                <a:latin typeface="Calibri" pitchFamily="34" charset="0"/>
                <a:ea typeface="Calibri" pitchFamily="34" charset="-122"/>
                <a:cs typeface="Calibri" pitchFamily="34" charset="-120"/>
              </a:rPr>
              <a:t>SNEHA · EN</a:t>
            </a:r>
            <a:endParaRPr lang="en-US" sz="1000" dirty="0"/>
          </a:p>
        </p:txBody>
      </p:sp>
      <p:sp>
        <p:nvSpPr>
          <p:cNvPr id="6" name="Text 4"/>
          <p:cNvSpPr/>
          <p:nvPr/>
        </p:nvSpPr>
        <p:spPr>
          <a:xfrm>
            <a:off x="960120" y="2450592"/>
            <a:ext cx="6035040" cy="566928"/>
          </a:xfrm>
          <a:prstGeom prst="rect">
            <a:avLst/>
          </a:prstGeom>
          <a:noFill/>
          <a:ln/>
        </p:spPr>
        <p:txBody>
          <a:bodyPr wrap="square" lIns="0" tIns="0" rIns="0" bIns="0" rtlCol="0" anchor="ctr"/>
          <a:lstStyle/>
          <a:p>
            <a:pPr indent="0" marL="0">
              <a:buNone/>
            </a:pPr>
            <a:r>
              <a:rPr lang="en-US" sz="1350" dirty="0">
                <a:solidFill>
                  <a:srgbClr val="F3E9DC"/>
                </a:solidFill>
                <a:latin typeface="Calibri" pitchFamily="34" charset="0"/>
                <a:ea typeface="Calibri" pitchFamily="34" charset="-122"/>
                <a:cs typeface="Calibri" pitchFamily="34" charset="-120"/>
              </a:rPr>
              <a:t>Good evening! Congratulations on Sathvik’s results — he has done really well.</a:t>
            </a:r>
            <a:endParaRPr lang="en-US" sz="1350" dirty="0"/>
          </a:p>
        </p:txBody>
      </p:sp>
      <p:sp>
        <p:nvSpPr>
          <p:cNvPr id="7" name="Text 5"/>
          <p:cNvSpPr/>
          <p:nvPr/>
        </p:nvSpPr>
        <p:spPr>
          <a:xfrm>
            <a:off x="960120" y="3108960"/>
            <a:ext cx="6035040" cy="256032"/>
          </a:xfrm>
          <a:prstGeom prst="rect">
            <a:avLst/>
          </a:prstGeom>
          <a:noFill/>
          <a:ln/>
        </p:spPr>
        <p:txBody>
          <a:bodyPr wrap="square" lIns="0" tIns="0" rIns="0" bIns="0" rtlCol="0" anchor="ctr"/>
          <a:lstStyle/>
          <a:p>
            <a:pPr indent="0" marL="0">
              <a:buNone/>
            </a:pPr>
            <a:r>
              <a:rPr lang="en-US" sz="1000" b="1" spc="200" kern="0" dirty="0">
                <a:solidFill>
                  <a:srgbClr val="8A7A70"/>
                </a:solidFill>
                <a:latin typeface="Calibri" pitchFamily="34" charset="0"/>
                <a:ea typeface="Calibri" pitchFamily="34" charset="-122"/>
                <a:cs typeface="Calibri" pitchFamily="34" charset="-120"/>
              </a:rPr>
              <a:t>PARENT</a:t>
            </a:r>
            <a:endParaRPr lang="en-US" sz="1000" dirty="0"/>
          </a:p>
        </p:txBody>
      </p:sp>
      <p:sp>
        <p:nvSpPr>
          <p:cNvPr id="8" name="Text 6"/>
          <p:cNvSpPr/>
          <p:nvPr/>
        </p:nvSpPr>
        <p:spPr>
          <a:xfrm>
            <a:off x="960120" y="3364992"/>
            <a:ext cx="6035040" cy="566928"/>
          </a:xfrm>
          <a:prstGeom prst="rect">
            <a:avLst/>
          </a:prstGeom>
          <a:noFill/>
          <a:ln/>
        </p:spPr>
        <p:txBody>
          <a:bodyPr wrap="square" lIns="0" tIns="0" rIns="0" bIns="0" rtlCol="0" anchor="ctr"/>
          <a:lstStyle/>
          <a:p>
            <a:pPr indent="0" marL="0">
              <a:buNone/>
            </a:pPr>
            <a:r>
              <a:rPr lang="en-US" sz="1350" dirty="0">
                <a:solidFill>
                  <a:srgbClr val="C9AFA3"/>
                </a:solidFill>
                <a:latin typeface="Calibri" pitchFamily="34" charset="0"/>
                <a:ea typeface="Calibri" pitchFamily="34" charset="-122"/>
                <a:cs typeface="Calibri" pitchFamily="34" charset="-120"/>
              </a:rPr>
              <a:t>అవునండీ... కానీ ఫీజు గురించి కొంచెం టెన్షన్‌గా ఉంది.</a:t>
            </a:r>
            <a:endParaRPr lang="en-US" sz="1350" dirty="0"/>
          </a:p>
        </p:txBody>
      </p:sp>
      <p:sp>
        <p:nvSpPr>
          <p:cNvPr id="9" name="Text 7"/>
          <p:cNvSpPr/>
          <p:nvPr/>
        </p:nvSpPr>
        <p:spPr>
          <a:xfrm>
            <a:off x="960120" y="4023360"/>
            <a:ext cx="6035040" cy="320040"/>
          </a:xfrm>
          <a:prstGeom prst="rect">
            <a:avLst/>
          </a:prstGeom>
          <a:noFill/>
          <a:ln/>
        </p:spPr>
        <p:txBody>
          <a:bodyPr wrap="square" lIns="0" tIns="0" rIns="0" bIns="0" rtlCol="0" anchor="ctr"/>
          <a:lstStyle/>
          <a:p>
            <a:pPr algn="ctr" indent="0" marL="0">
              <a:buNone/>
            </a:pPr>
            <a:r>
              <a:rPr lang="en-US" sz="1150" i="1" dirty="0">
                <a:solidFill>
                  <a:srgbClr val="E4A3AE"/>
                </a:solidFill>
                <a:latin typeface="Calibri" pitchFamily="34" charset="0"/>
                <a:ea typeface="Calibri" pitchFamily="34" charset="-122"/>
                <a:cs typeface="Calibri" pitchFamily="34" charset="-120"/>
              </a:rPr>
              <a:t>— she switches to Telugu, mid-call, instantly —</a:t>
            </a:r>
            <a:endParaRPr lang="en-US" sz="1150" dirty="0"/>
          </a:p>
        </p:txBody>
      </p:sp>
      <p:sp>
        <p:nvSpPr>
          <p:cNvPr id="10" name="Text 8"/>
          <p:cNvSpPr/>
          <p:nvPr/>
        </p:nvSpPr>
        <p:spPr>
          <a:xfrm>
            <a:off x="960120" y="4480560"/>
            <a:ext cx="6035040" cy="256032"/>
          </a:xfrm>
          <a:prstGeom prst="rect">
            <a:avLst/>
          </a:prstGeom>
          <a:noFill/>
          <a:ln/>
        </p:spPr>
        <p:txBody>
          <a:bodyPr wrap="square" lIns="0" tIns="0" rIns="0" bIns="0" rtlCol="0" anchor="ctr"/>
          <a:lstStyle/>
          <a:p>
            <a:pPr indent="0" marL="0">
              <a:buNone/>
            </a:pPr>
            <a:r>
              <a:rPr lang="en-US" sz="1000" b="1" spc="200" kern="0" dirty="0">
                <a:solidFill>
                  <a:srgbClr val="E4A3AE"/>
                </a:solidFill>
                <a:latin typeface="Calibri" pitchFamily="34" charset="0"/>
                <a:ea typeface="Calibri" pitchFamily="34" charset="-122"/>
                <a:cs typeface="Calibri" pitchFamily="34" charset="-120"/>
              </a:rPr>
              <a:t>SNEHA · TE</a:t>
            </a:r>
            <a:endParaRPr lang="en-US" sz="1000" dirty="0"/>
          </a:p>
        </p:txBody>
      </p:sp>
      <p:sp>
        <p:nvSpPr>
          <p:cNvPr id="11" name="Text 9"/>
          <p:cNvSpPr/>
          <p:nvPr/>
        </p:nvSpPr>
        <p:spPr>
          <a:xfrm>
            <a:off x="960120" y="4736592"/>
            <a:ext cx="6035040" cy="566928"/>
          </a:xfrm>
          <a:prstGeom prst="rect">
            <a:avLst/>
          </a:prstGeom>
          <a:noFill/>
          <a:ln/>
        </p:spPr>
        <p:txBody>
          <a:bodyPr wrap="square" lIns="0" tIns="0" rIns="0" bIns="0" rtlCol="0" anchor="ctr"/>
          <a:lstStyle/>
          <a:p>
            <a:pPr indent="0" marL="0">
              <a:buNone/>
            </a:pPr>
            <a:r>
              <a:rPr lang="en-US" sz="1350" dirty="0">
                <a:solidFill>
                  <a:srgbClr val="F3E9DC"/>
                </a:solidFill>
                <a:latin typeface="Calibri" pitchFamily="34" charset="0"/>
                <a:ea typeface="Calibri" pitchFamily="34" charset="-122"/>
                <a:cs typeface="Calibri" pitchFamily="34" charset="-120"/>
              </a:rPr>
              <a:t>అర్థమైంది అండీ. మన scholarship test తో ఫీజు చాలా తగ్గుతుంది. క్యాంపస్‌కి వస్తే క్లారిటీ వస్తుంది.</a:t>
            </a:r>
            <a:endParaRPr lang="en-US" sz="1350" dirty="0"/>
          </a:p>
        </p:txBody>
      </p:sp>
      <p:sp>
        <p:nvSpPr>
          <p:cNvPr id="12" name="Shape 10"/>
          <p:cNvSpPr/>
          <p:nvPr/>
        </p:nvSpPr>
        <p:spPr>
          <a:xfrm>
            <a:off x="7635240" y="1920240"/>
            <a:ext cx="3931920" cy="1280160"/>
          </a:xfrm>
          <a:prstGeom prst="roundRect">
            <a:avLst>
              <a:gd name="adj" fmla="val 5714"/>
            </a:avLst>
          </a:prstGeom>
          <a:solidFill>
            <a:srgbClr val="EFE5D6"/>
          </a:solidFill>
          <a:ln w="9525">
            <a:solidFill>
              <a:srgbClr val="D9CCBB"/>
            </a:solidFill>
            <a:prstDash val="solid"/>
          </a:ln>
        </p:spPr>
      </p:sp>
      <p:sp>
        <p:nvSpPr>
          <p:cNvPr id="13" name="Text 11"/>
          <p:cNvSpPr/>
          <p:nvPr/>
        </p:nvSpPr>
        <p:spPr>
          <a:xfrm>
            <a:off x="7909560" y="2066544"/>
            <a:ext cx="3474720" cy="457200"/>
          </a:xfrm>
          <a:prstGeom prst="rect">
            <a:avLst/>
          </a:prstGeom>
          <a:noFill/>
          <a:ln/>
        </p:spPr>
        <p:txBody>
          <a:bodyPr wrap="square" lIns="0" tIns="0" rIns="0" bIns="0" rtlCol="0" anchor="ctr"/>
          <a:lstStyle/>
          <a:p>
            <a:pPr indent="0" marL="0">
              <a:buNone/>
            </a:pPr>
            <a:r>
              <a:rPr lang="en-US" sz="2500" b="1" dirty="0">
                <a:solidFill>
                  <a:srgbClr val="6E1B2A"/>
                </a:solidFill>
                <a:latin typeface="Cambria" pitchFamily="34" charset="0"/>
                <a:ea typeface="Cambria" pitchFamily="34" charset="-122"/>
                <a:cs typeface="Cambria" pitchFamily="34" charset="-120"/>
              </a:rPr>
              <a:t>~1 sec</a:t>
            </a:r>
            <a:endParaRPr lang="en-US" sz="2500" dirty="0"/>
          </a:p>
        </p:txBody>
      </p:sp>
      <p:sp>
        <p:nvSpPr>
          <p:cNvPr id="14" name="Text 12"/>
          <p:cNvSpPr/>
          <p:nvPr/>
        </p:nvSpPr>
        <p:spPr>
          <a:xfrm>
            <a:off x="7909560" y="2542032"/>
            <a:ext cx="3474720" cy="566928"/>
          </a:xfrm>
          <a:prstGeom prst="rect">
            <a:avLst/>
          </a:prstGeom>
          <a:noFill/>
          <a:ln/>
        </p:spPr>
        <p:txBody>
          <a:bodyPr wrap="square" lIns="0" tIns="0" rIns="0" bIns="0" rtlCol="0" anchor="ctr"/>
          <a:lstStyle/>
          <a:p>
            <a:pPr indent="0" marL="0">
              <a:buNone/>
            </a:pPr>
            <a:r>
              <a:rPr lang="en-US" sz="1150" dirty="0">
                <a:solidFill>
                  <a:srgbClr val="6E6058"/>
                </a:solidFill>
                <a:latin typeface="Calibri" pitchFamily="34" charset="0"/>
                <a:ea typeface="Calibri" pitchFamily="34" charset="-122"/>
                <a:cs typeface="Calibri" pitchFamily="34" charset="-120"/>
              </a:rPr>
              <a:t>from parent finishing</a:t>
            </a:r>
            <a:endParaRPr lang="en-US" sz="1150" dirty="0"/>
          </a:p>
          <a:p>
            <a:pPr indent="0" marL="0">
              <a:buNone/>
            </a:pPr>
            <a:r>
              <a:rPr lang="en-US" sz="1150" dirty="0">
                <a:solidFill>
                  <a:srgbClr val="6E6058"/>
                </a:solidFill>
                <a:latin typeface="Calibri" pitchFamily="34" charset="0"/>
                <a:ea typeface="Calibri" pitchFamily="34" charset="-122"/>
                <a:cs typeface="Calibri" pitchFamily="34" charset="-120"/>
              </a:rPr>
              <a:t>to Sneha speaking</a:t>
            </a:r>
            <a:endParaRPr lang="en-US" sz="1150" dirty="0"/>
          </a:p>
        </p:txBody>
      </p:sp>
      <p:sp>
        <p:nvSpPr>
          <p:cNvPr id="15" name="Shape 13"/>
          <p:cNvSpPr/>
          <p:nvPr/>
        </p:nvSpPr>
        <p:spPr>
          <a:xfrm>
            <a:off x="7635240" y="3337560"/>
            <a:ext cx="3931920" cy="1280160"/>
          </a:xfrm>
          <a:prstGeom prst="roundRect">
            <a:avLst>
              <a:gd name="adj" fmla="val 5714"/>
            </a:avLst>
          </a:prstGeom>
          <a:solidFill>
            <a:srgbClr val="EFE5D6"/>
          </a:solidFill>
          <a:ln w="9525">
            <a:solidFill>
              <a:srgbClr val="D9CCBB"/>
            </a:solidFill>
            <a:prstDash val="solid"/>
          </a:ln>
        </p:spPr>
      </p:sp>
      <p:sp>
        <p:nvSpPr>
          <p:cNvPr id="16" name="Text 14"/>
          <p:cNvSpPr/>
          <p:nvPr/>
        </p:nvSpPr>
        <p:spPr>
          <a:xfrm>
            <a:off x="7909560" y="3483864"/>
            <a:ext cx="3474720" cy="457200"/>
          </a:xfrm>
          <a:prstGeom prst="rect">
            <a:avLst/>
          </a:prstGeom>
          <a:noFill/>
          <a:ln/>
        </p:spPr>
        <p:txBody>
          <a:bodyPr wrap="square" lIns="0" tIns="0" rIns="0" bIns="0" rtlCol="0" anchor="ctr"/>
          <a:lstStyle/>
          <a:p>
            <a:pPr indent="0" marL="0">
              <a:buNone/>
            </a:pPr>
            <a:r>
              <a:rPr lang="en-US" sz="2500" b="1" dirty="0">
                <a:solidFill>
                  <a:srgbClr val="6E1B2A"/>
                </a:solidFill>
                <a:latin typeface="Cambria" pitchFamily="34" charset="0"/>
                <a:ea typeface="Cambria" pitchFamily="34" charset="-122"/>
                <a:cs typeface="Cambria" pitchFamily="34" charset="-120"/>
              </a:rPr>
              <a:t>3 languages</a:t>
            </a:r>
            <a:endParaRPr lang="en-US" sz="2500" dirty="0"/>
          </a:p>
        </p:txBody>
      </p:sp>
      <p:sp>
        <p:nvSpPr>
          <p:cNvPr id="17" name="Text 15"/>
          <p:cNvSpPr/>
          <p:nvPr/>
        </p:nvSpPr>
        <p:spPr>
          <a:xfrm>
            <a:off x="7909560" y="3959352"/>
            <a:ext cx="3474720" cy="566928"/>
          </a:xfrm>
          <a:prstGeom prst="rect">
            <a:avLst/>
          </a:prstGeom>
          <a:noFill/>
          <a:ln/>
        </p:spPr>
        <p:txBody>
          <a:bodyPr wrap="square" lIns="0" tIns="0" rIns="0" bIns="0" rtlCol="0" anchor="ctr"/>
          <a:lstStyle/>
          <a:p>
            <a:pPr indent="0" marL="0">
              <a:buNone/>
            </a:pPr>
            <a:r>
              <a:rPr lang="en-US" sz="1150" dirty="0">
                <a:solidFill>
                  <a:srgbClr val="6E6058"/>
                </a:solidFill>
                <a:latin typeface="Calibri" pitchFamily="34" charset="0"/>
                <a:ea typeface="Calibri" pitchFamily="34" charset="-122"/>
                <a:cs typeface="Calibri" pitchFamily="34" charset="-120"/>
              </a:rPr>
              <a:t>switched mid-call,</a:t>
            </a:r>
            <a:endParaRPr lang="en-US" sz="1150" dirty="0"/>
          </a:p>
          <a:p>
            <a:pPr indent="0" marL="0">
              <a:buNone/>
            </a:pPr>
            <a:r>
              <a:rPr lang="en-US" sz="1150" dirty="0">
                <a:solidFill>
                  <a:srgbClr val="6E6058"/>
                </a:solidFill>
                <a:latin typeface="Calibri" pitchFamily="34" charset="0"/>
                <a:ea typeface="Calibri" pitchFamily="34" charset="-122"/>
                <a:cs typeface="Calibri" pitchFamily="34" charset="-120"/>
              </a:rPr>
              <a:t>no menus, no "press 2"</a:t>
            </a:r>
            <a:endParaRPr lang="en-US" sz="1150" dirty="0"/>
          </a:p>
        </p:txBody>
      </p:sp>
      <p:sp>
        <p:nvSpPr>
          <p:cNvPr id="18" name="Shape 16"/>
          <p:cNvSpPr/>
          <p:nvPr/>
        </p:nvSpPr>
        <p:spPr>
          <a:xfrm>
            <a:off x="7635240" y="4754880"/>
            <a:ext cx="3931920" cy="1280160"/>
          </a:xfrm>
          <a:prstGeom prst="roundRect">
            <a:avLst>
              <a:gd name="adj" fmla="val 5714"/>
            </a:avLst>
          </a:prstGeom>
          <a:solidFill>
            <a:srgbClr val="EFE5D6"/>
          </a:solidFill>
          <a:ln w="9525">
            <a:solidFill>
              <a:srgbClr val="D9CCBB"/>
            </a:solidFill>
            <a:prstDash val="solid"/>
          </a:ln>
        </p:spPr>
      </p:sp>
      <p:sp>
        <p:nvSpPr>
          <p:cNvPr id="19" name="Text 17"/>
          <p:cNvSpPr/>
          <p:nvPr/>
        </p:nvSpPr>
        <p:spPr>
          <a:xfrm>
            <a:off x="7909560" y="4901184"/>
            <a:ext cx="3474720" cy="457200"/>
          </a:xfrm>
          <a:prstGeom prst="rect">
            <a:avLst/>
          </a:prstGeom>
          <a:noFill/>
          <a:ln/>
        </p:spPr>
        <p:txBody>
          <a:bodyPr wrap="square" lIns="0" tIns="0" rIns="0" bIns="0" rtlCol="0" anchor="ctr"/>
          <a:lstStyle/>
          <a:p>
            <a:pPr indent="0" marL="0">
              <a:buNone/>
            </a:pPr>
            <a:r>
              <a:rPr lang="en-US" sz="2500" b="1" dirty="0">
                <a:solidFill>
                  <a:srgbClr val="6E1B2A"/>
                </a:solidFill>
                <a:latin typeface="Cambria" pitchFamily="34" charset="0"/>
                <a:ea typeface="Cambria" pitchFamily="34" charset="-122"/>
                <a:cs typeface="Cambria" pitchFamily="34" charset="-120"/>
              </a:rPr>
              <a:t>Every call</a:t>
            </a:r>
            <a:endParaRPr lang="en-US" sz="2500" dirty="0"/>
          </a:p>
        </p:txBody>
      </p:sp>
      <p:sp>
        <p:nvSpPr>
          <p:cNvPr id="20" name="Text 18"/>
          <p:cNvSpPr/>
          <p:nvPr/>
        </p:nvSpPr>
        <p:spPr>
          <a:xfrm>
            <a:off x="7909560" y="5376672"/>
            <a:ext cx="3474720" cy="566928"/>
          </a:xfrm>
          <a:prstGeom prst="rect">
            <a:avLst/>
          </a:prstGeom>
          <a:noFill/>
          <a:ln/>
        </p:spPr>
        <p:txBody>
          <a:bodyPr wrap="square" lIns="0" tIns="0" rIns="0" bIns="0" rtlCol="0" anchor="ctr"/>
          <a:lstStyle/>
          <a:p>
            <a:pPr indent="0" marL="0">
              <a:buNone/>
            </a:pPr>
            <a:r>
              <a:rPr lang="en-US" sz="1150" dirty="0">
                <a:solidFill>
                  <a:srgbClr val="6E6058"/>
                </a:solidFill>
                <a:latin typeface="Calibri" pitchFamily="34" charset="0"/>
                <a:ea typeface="Calibri" pitchFamily="34" charset="-122"/>
                <a:cs typeface="Calibri" pitchFamily="34" charset="-120"/>
              </a:rPr>
              <a:t>remembered — she greets</a:t>
            </a:r>
            <a:endParaRPr lang="en-US" sz="1150" dirty="0"/>
          </a:p>
          <a:p>
            <a:pPr indent="0" marL="0">
              <a:buNone/>
            </a:pPr>
            <a:r>
              <a:rPr lang="en-US" sz="1150" dirty="0">
                <a:solidFill>
                  <a:srgbClr val="6E6058"/>
                </a:solidFill>
                <a:latin typeface="Calibri" pitchFamily="34" charset="0"/>
                <a:ea typeface="Calibri" pitchFamily="34" charset="-122"/>
                <a:cs typeface="Calibri" pitchFamily="34" charset="-120"/>
              </a:rPr>
              <a:t>returning families by name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06 — WHAT IS INCLUDED</a:t>
            </a:r>
            <a:endParaRPr lang="en-US" sz="1100" dirty="0"/>
          </a:p>
        </p:txBody>
      </p:sp>
      <p:sp>
        <p:nvSpPr>
          <p:cNvPr id="3" name="Text 1"/>
          <p:cNvSpPr/>
          <p:nvPr/>
        </p:nvSpPr>
        <p:spPr>
          <a:xfrm>
            <a:off x="640080" y="749808"/>
            <a:ext cx="10972800" cy="640080"/>
          </a:xfrm>
          <a:prstGeom prst="rect">
            <a:avLst/>
          </a:prstGeom>
          <a:noFill/>
          <a:ln/>
        </p:spPr>
        <p:txBody>
          <a:bodyPr wrap="square" lIns="0" tIns="0" rIns="0" bIns="0" rtlCol="0" anchor="ctr"/>
          <a:lstStyle/>
          <a:p>
            <a:pPr indent="0" marL="0">
              <a:buNone/>
            </a:pPr>
            <a:r>
              <a:rPr lang="en-US" sz="3200" b="1" dirty="0">
                <a:solidFill>
                  <a:srgbClr val="2A211C"/>
                </a:solidFill>
                <a:latin typeface="Cambria" pitchFamily="34" charset="0"/>
                <a:ea typeface="Cambria" pitchFamily="34" charset="-122"/>
                <a:cs typeface="Cambria" pitchFamily="34" charset="-120"/>
              </a:rPr>
              <a:t>All twelve departments. One system.</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914400"/>
        </p:xfrm>
        <a:graphic>
          <a:graphicData uri="http://schemas.openxmlformats.org/drawingml/2006/table">
            <a:tbl>
              <a:tblPr/>
              <a:tblGrid>
                <a:gridCol w="640080"/>
                <a:gridCol w="2103120"/>
                <a:gridCol w="6428232"/>
                <a:gridCol w="1737360"/>
              </a:tblGrid>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Lead capture</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Every web enquiry lands in her queue, instantly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First contact</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She calls back within minutes — not tomorrow</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Counselling</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Diagnoses the real concern, then guides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Brochures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The right leaflet, sent automatically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Campus visits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Books the slot, hands your counsellor the calendar entry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Documents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Chases the admission checklist for you</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07</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Data entry</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Zero typing — every detail extracted into the CRM</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08</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Follow-up</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Calls back at the hour parents actually pick up</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09</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Payments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Explains fees, plans and reminders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CRM &amp; records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Remembers every family, across every call</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Reporting</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Live funnel and analytics — no registers</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329184">
                <a:tc>
                  <a:txBody>
                    <a:bodyPr/>
                    <a:lstStyle/>
                    <a:p>
                      <a:pPr algn="ctr" indent="0" marL="0">
                        <a:buNone/>
                      </a:pPr>
                      <a:r>
                        <a:rPr lang="en-US" sz="1150" b="1" dirty="0">
                          <a:solidFill>
                            <a:srgbClr val="A33244"/>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b="1" dirty="0">
                          <a:solidFill>
                            <a:srgbClr val="2A211C"/>
                          </a:solidFill>
                          <a:latin typeface="Calibri" pitchFamily="34" charset="0"/>
                          <a:ea typeface="Calibri" pitchFamily="34" charset="-122"/>
                          <a:cs typeface="Calibri" pitchFamily="34" charset="-120"/>
                        </a:rPr>
                        <a:t>Post-admission</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150" dirty="0">
                          <a:solidFill>
                            <a:srgbClr val="6E6058"/>
                          </a:solidFill>
                          <a:latin typeface="Calibri" pitchFamily="34" charset="0"/>
                          <a:ea typeface="Calibri" pitchFamily="34" charset="-122"/>
                          <a:cs typeface="Calibri" pitchFamily="34" charset="-120"/>
                        </a:rPr>
                        <a:t>Keeps admitted parents informed, in their language</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marL="45720" marR="45720" marT="45720" marB="45720"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bl>
          </a:graphicData>
        </a:graphic>
      </p:graphicFrame>
      <p:sp>
        <p:nvSpPr>
          <p:cNvPr id="5" name="Text 2"/>
          <p:cNvSpPr/>
          <p:nvPr/>
        </p:nvSpPr>
        <p:spPr>
          <a:xfrm>
            <a:off x="640080" y="5989320"/>
            <a:ext cx="10972800" cy="411480"/>
          </a:xfrm>
          <a:prstGeom prst="rect">
            <a:avLst/>
          </a:prstGeom>
          <a:noFill/>
          <a:ln/>
        </p:spPr>
        <p:txBody>
          <a:bodyPr wrap="square" lIns="0" tIns="0" rIns="0" bIns="0" rtlCol="0" anchor="ctr"/>
          <a:lstStyle/>
          <a:p>
            <a:pPr indent="0" marL="0">
              <a:buNone/>
            </a:pPr>
            <a:r>
              <a:rPr lang="en-US" sz="1400" i="1" dirty="0">
                <a:solidFill>
                  <a:srgbClr val="6E6058"/>
                </a:solidFill>
                <a:latin typeface="Calibri" pitchFamily="34" charset="0"/>
                <a:ea typeface="Calibri" pitchFamily="34" charset="-122"/>
                <a:cs typeface="Calibri" pitchFamily="34" charset="-120"/>
              </a:rPr>
              <a:t>Hire this as people and the salary bill is on slide 3. Here, it is one line item.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07 — AFTER THE CALL</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300" b="1" dirty="0">
                <a:solidFill>
                  <a:srgbClr val="2A211C"/>
                </a:solidFill>
                <a:latin typeface="Cambria" pitchFamily="34" charset="0"/>
                <a:ea typeface="Cambria" pitchFamily="34" charset="-122"/>
                <a:cs typeface="Cambria" pitchFamily="34" charset="-120"/>
              </a:rPr>
              <a:t>The call ends. Then the system goes to work.</a:t>
            </a:r>
            <a:endParaRPr lang="en-US" sz="3300" dirty="0"/>
          </a:p>
        </p:txBody>
      </p:sp>
      <p:sp>
        <p:nvSpPr>
          <p:cNvPr id="4" name="Shape 2"/>
          <p:cNvSpPr/>
          <p:nvPr/>
        </p:nvSpPr>
        <p:spPr>
          <a:xfrm>
            <a:off x="640080" y="2148840"/>
            <a:ext cx="3520440" cy="1371600"/>
          </a:xfrm>
          <a:prstGeom prst="roundRect">
            <a:avLst>
              <a:gd name="adj" fmla="val 5333"/>
            </a:avLst>
          </a:prstGeom>
          <a:solidFill>
            <a:srgbClr val="EFE5D6"/>
          </a:solidFill>
          <a:ln w="9525">
            <a:solidFill>
              <a:srgbClr val="D9CCBB"/>
            </a:solidFill>
            <a:prstDash val="solid"/>
          </a:ln>
        </p:spPr>
      </p:sp>
      <p:sp>
        <p:nvSpPr>
          <p:cNvPr id="5" name="Shape 3"/>
          <p:cNvSpPr/>
          <p:nvPr/>
        </p:nvSpPr>
        <p:spPr>
          <a:xfrm>
            <a:off x="841248" y="2350008"/>
            <a:ext cx="384048" cy="384048"/>
          </a:xfrm>
          <a:prstGeom prst="ellipse">
            <a:avLst/>
          </a:prstGeom>
          <a:solidFill>
            <a:srgbClr val="6E1B2A"/>
          </a:solidFill>
          <a:ln/>
        </p:spPr>
      </p:sp>
      <p:sp>
        <p:nvSpPr>
          <p:cNvPr id="6" name="Text 4"/>
          <p:cNvSpPr/>
          <p:nvPr/>
        </p:nvSpPr>
        <p:spPr>
          <a:xfrm>
            <a:off x="841248" y="235000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41248" y="286207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Call summarised, interest scored</a:t>
            </a:r>
            <a:endParaRPr lang="en-US" sz="1250" dirty="0"/>
          </a:p>
        </p:txBody>
      </p:sp>
      <p:sp>
        <p:nvSpPr>
          <p:cNvPr id="8" name="Shape 6"/>
          <p:cNvSpPr/>
          <p:nvPr/>
        </p:nvSpPr>
        <p:spPr>
          <a:xfrm>
            <a:off x="4334256" y="2148840"/>
            <a:ext cx="3520440" cy="1371600"/>
          </a:xfrm>
          <a:prstGeom prst="roundRect">
            <a:avLst>
              <a:gd name="adj" fmla="val 5333"/>
            </a:avLst>
          </a:prstGeom>
          <a:solidFill>
            <a:srgbClr val="EFE5D6"/>
          </a:solidFill>
          <a:ln w="9525">
            <a:solidFill>
              <a:srgbClr val="D9CCBB"/>
            </a:solidFill>
            <a:prstDash val="solid"/>
          </a:ln>
        </p:spPr>
      </p:sp>
      <p:sp>
        <p:nvSpPr>
          <p:cNvPr id="9" name="Shape 7"/>
          <p:cNvSpPr/>
          <p:nvPr/>
        </p:nvSpPr>
        <p:spPr>
          <a:xfrm>
            <a:off x="4535424" y="2350008"/>
            <a:ext cx="384048" cy="384048"/>
          </a:xfrm>
          <a:prstGeom prst="ellipse">
            <a:avLst/>
          </a:prstGeom>
          <a:solidFill>
            <a:srgbClr val="6E1B2A"/>
          </a:solidFill>
          <a:ln/>
        </p:spPr>
      </p:sp>
      <p:sp>
        <p:nvSpPr>
          <p:cNvPr id="10" name="Text 8"/>
          <p:cNvSpPr/>
          <p:nvPr/>
        </p:nvSpPr>
        <p:spPr>
          <a:xfrm>
            <a:off x="4535424" y="235000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535424" y="286207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CRM updated — nobody typed anything</a:t>
            </a:r>
            <a:endParaRPr lang="en-US" sz="1250" dirty="0"/>
          </a:p>
        </p:txBody>
      </p:sp>
      <p:sp>
        <p:nvSpPr>
          <p:cNvPr id="12" name="Shape 10"/>
          <p:cNvSpPr/>
          <p:nvPr/>
        </p:nvSpPr>
        <p:spPr>
          <a:xfrm>
            <a:off x="8028432" y="2148840"/>
            <a:ext cx="3520440" cy="1371600"/>
          </a:xfrm>
          <a:prstGeom prst="roundRect">
            <a:avLst>
              <a:gd name="adj" fmla="val 5333"/>
            </a:avLst>
          </a:prstGeom>
          <a:solidFill>
            <a:srgbClr val="EFE5D6"/>
          </a:solidFill>
          <a:ln w="9525">
            <a:solidFill>
              <a:srgbClr val="D9CCBB"/>
            </a:solidFill>
            <a:prstDash val="solid"/>
          </a:ln>
        </p:spPr>
      </p:sp>
      <p:sp>
        <p:nvSpPr>
          <p:cNvPr id="13" name="Shape 11"/>
          <p:cNvSpPr/>
          <p:nvPr/>
        </p:nvSpPr>
        <p:spPr>
          <a:xfrm>
            <a:off x="8229600" y="2350008"/>
            <a:ext cx="384048" cy="384048"/>
          </a:xfrm>
          <a:prstGeom prst="ellipse">
            <a:avLst/>
          </a:prstGeom>
          <a:solidFill>
            <a:srgbClr val="6E1B2A"/>
          </a:solidFill>
          <a:ln/>
        </p:spPr>
      </p:sp>
      <p:sp>
        <p:nvSpPr>
          <p:cNvPr id="14" name="Text 12"/>
          <p:cNvSpPr/>
          <p:nvPr/>
        </p:nvSpPr>
        <p:spPr>
          <a:xfrm>
            <a:off x="8229600" y="235000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8229600" y="286207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Brochure queued on WhatsApp</a:t>
            </a:r>
            <a:endParaRPr lang="en-US" sz="1250" dirty="0"/>
          </a:p>
        </p:txBody>
      </p:sp>
      <p:sp>
        <p:nvSpPr>
          <p:cNvPr id="16" name="Shape 14"/>
          <p:cNvSpPr/>
          <p:nvPr/>
        </p:nvSpPr>
        <p:spPr>
          <a:xfrm>
            <a:off x="640080" y="4023360"/>
            <a:ext cx="3520440" cy="1371600"/>
          </a:xfrm>
          <a:prstGeom prst="roundRect">
            <a:avLst>
              <a:gd name="adj" fmla="val 5333"/>
            </a:avLst>
          </a:prstGeom>
          <a:solidFill>
            <a:srgbClr val="EFE5D6"/>
          </a:solidFill>
          <a:ln w="9525">
            <a:solidFill>
              <a:srgbClr val="D9CCBB"/>
            </a:solidFill>
            <a:prstDash val="solid"/>
          </a:ln>
        </p:spPr>
      </p:sp>
      <p:sp>
        <p:nvSpPr>
          <p:cNvPr id="17" name="Shape 15"/>
          <p:cNvSpPr/>
          <p:nvPr/>
        </p:nvSpPr>
        <p:spPr>
          <a:xfrm>
            <a:off x="841248" y="4224528"/>
            <a:ext cx="384048" cy="384048"/>
          </a:xfrm>
          <a:prstGeom prst="ellipse">
            <a:avLst/>
          </a:prstGeom>
          <a:solidFill>
            <a:srgbClr val="6E1B2A"/>
          </a:solidFill>
          <a:ln/>
        </p:spPr>
      </p:sp>
      <p:sp>
        <p:nvSpPr>
          <p:cNvPr id="18" name="Text 16"/>
          <p:cNvSpPr/>
          <p:nvPr/>
        </p:nvSpPr>
        <p:spPr>
          <a:xfrm>
            <a:off x="841248" y="422452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841248" y="473659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Campus visit booked, calendar entry made</a:t>
            </a:r>
            <a:endParaRPr lang="en-US" sz="1250" dirty="0"/>
          </a:p>
        </p:txBody>
      </p:sp>
      <p:sp>
        <p:nvSpPr>
          <p:cNvPr id="20" name="Shape 18"/>
          <p:cNvSpPr/>
          <p:nvPr/>
        </p:nvSpPr>
        <p:spPr>
          <a:xfrm>
            <a:off x="4334256" y="4023360"/>
            <a:ext cx="3520440" cy="1371600"/>
          </a:xfrm>
          <a:prstGeom prst="roundRect">
            <a:avLst>
              <a:gd name="adj" fmla="val 5333"/>
            </a:avLst>
          </a:prstGeom>
          <a:solidFill>
            <a:srgbClr val="EFE5D6"/>
          </a:solidFill>
          <a:ln w="9525">
            <a:solidFill>
              <a:srgbClr val="D9CCBB"/>
            </a:solidFill>
            <a:prstDash val="solid"/>
          </a:ln>
        </p:spPr>
      </p:sp>
      <p:sp>
        <p:nvSpPr>
          <p:cNvPr id="21" name="Shape 19"/>
          <p:cNvSpPr/>
          <p:nvPr/>
        </p:nvSpPr>
        <p:spPr>
          <a:xfrm>
            <a:off x="4535424" y="4224528"/>
            <a:ext cx="384048" cy="384048"/>
          </a:xfrm>
          <a:prstGeom prst="ellipse">
            <a:avLst/>
          </a:prstGeom>
          <a:solidFill>
            <a:srgbClr val="6E1B2A"/>
          </a:solidFill>
          <a:ln/>
        </p:spPr>
      </p:sp>
      <p:sp>
        <p:nvSpPr>
          <p:cNvPr id="22" name="Text 20"/>
          <p:cNvSpPr/>
          <p:nvPr/>
        </p:nvSpPr>
        <p:spPr>
          <a:xfrm>
            <a:off x="4535424" y="422452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4535424" y="473659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Counsellor alerted for hot leads</a:t>
            </a:r>
            <a:endParaRPr lang="en-US" sz="1250" dirty="0"/>
          </a:p>
        </p:txBody>
      </p:sp>
      <p:sp>
        <p:nvSpPr>
          <p:cNvPr id="24" name="Shape 22"/>
          <p:cNvSpPr/>
          <p:nvPr/>
        </p:nvSpPr>
        <p:spPr>
          <a:xfrm>
            <a:off x="8028432" y="4023360"/>
            <a:ext cx="3520440" cy="1371600"/>
          </a:xfrm>
          <a:prstGeom prst="roundRect">
            <a:avLst>
              <a:gd name="adj" fmla="val 5333"/>
            </a:avLst>
          </a:prstGeom>
          <a:solidFill>
            <a:srgbClr val="EFE5D6"/>
          </a:solidFill>
          <a:ln w="9525">
            <a:solidFill>
              <a:srgbClr val="D9CCBB"/>
            </a:solidFill>
            <a:prstDash val="solid"/>
          </a:ln>
        </p:spPr>
      </p:sp>
      <p:sp>
        <p:nvSpPr>
          <p:cNvPr id="25" name="Shape 23"/>
          <p:cNvSpPr/>
          <p:nvPr/>
        </p:nvSpPr>
        <p:spPr>
          <a:xfrm>
            <a:off x="8229600" y="4224528"/>
            <a:ext cx="384048" cy="384048"/>
          </a:xfrm>
          <a:prstGeom prst="ellipse">
            <a:avLst/>
          </a:prstGeom>
          <a:solidFill>
            <a:srgbClr val="6E1B2A"/>
          </a:solidFill>
          <a:ln/>
        </p:spPr>
      </p:sp>
      <p:sp>
        <p:nvSpPr>
          <p:cNvPr id="26" name="Text 24"/>
          <p:cNvSpPr/>
          <p:nvPr/>
        </p:nvSpPr>
        <p:spPr>
          <a:xfrm>
            <a:off x="8229600" y="4224528"/>
            <a:ext cx="384048" cy="384048"/>
          </a:xfrm>
          <a:prstGeom prst="rect">
            <a:avLst/>
          </a:prstGeom>
          <a:noFill/>
          <a:ln/>
        </p:spPr>
        <p:txBody>
          <a:bodyPr wrap="square" lIns="0" tIns="0" rIns="0" bIns="0" rtlCol="0" anchor="ctr"/>
          <a:lstStyle/>
          <a:p>
            <a:pPr algn="ctr" indent="0" marL="0">
              <a:buNone/>
            </a:pPr>
            <a:r>
              <a:rPr lang="en-US" sz="1300" b="1" dirty="0">
                <a:solidFill>
                  <a:srgbClr val="F3E9DC"/>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8229600" y="4736592"/>
            <a:ext cx="3118104" cy="548640"/>
          </a:xfrm>
          <a:prstGeom prst="rect">
            <a:avLst/>
          </a:prstGeom>
          <a:noFill/>
          <a:ln/>
        </p:spPr>
        <p:txBody>
          <a:bodyPr wrap="square" lIns="0" tIns="0" rIns="0" bIns="0" rtlCol="0" anchor="ctr"/>
          <a:lstStyle/>
          <a:p>
            <a:pPr indent="0" marL="0">
              <a:buNone/>
            </a:pPr>
            <a:r>
              <a:rPr lang="en-US" sz="1250" b="1" dirty="0">
                <a:solidFill>
                  <a:srgbClr val="2A211C"/>
                </a:solidFill>
                <a:latin typeface="Calibri" pitchFamily="34" charset="0"/>
                <a:ea typeface="Calibri" pitchFamily="34" charset="-122"/>
                <a:cs typeface="Calibri" pitchFamily="34" charset="-120"/>
              </a:rPr>
              <a:t>Follow-up scheduled at the best hour</a:t>
            </a:r>
            <a:endParaRPr lang="en-US" sz="1250" dirty="0"/>
          </a:p>
        </p:txBody>
      </p:sp>
      <p:sp>
        <p:nvSpPr>
          <p:cNvPr id="28" name="Text 26"/>
          <p:cNvSpPr/>
          <p:nvPr/>
        </p:nvSpPr>
        <p:spPr>
          <a:xfrm>
            <a:off x="640080" y="6035040"/>
            <a:ext cx="10972800" cy="411480"/>
          </a:xfrm>
          <a:prstGeom prst="rect">
            <a:avLst/>
          </a:prstGeom>
          <a:noFill/>
          <a:ln/>
        </p:spPr>
        <p:txBody>
          <a:bodyPr wrap="square" lIns="0" tIns="0" rIns="0" bIns="0" rtlCol="0" anchor="ctr"/>
          <a:lstStyle/>
          <a:p>
            <a:pPr indent="0" marL="0">
              <a:buNone/>
            </a:pPr>
            <a:r>
              <a:rPr lang="en-US" sz="1400" i="1" dirty="0">
                <a:solidFill>
                  <a:srgbClr val="6E6058"/>
                </a:solidFill>
                <a:latin typeface="Calibri" pitchFamily="34" charset="0"/>
                <a:ea typeface="Calibri" pitchFamily="34" charset="-122"/>
                <a:cs typeface="Calibri" pitchFamily="34" charset="-120"/>
              </a:rPr>
              <a:t>Six departments’ worth of work, done in the minute after she hangs up.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08 — FULL VISIBILITY</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You see everything. Live.</a:t>
            </a:r>
            <a:endParaRPr lang="en-US" sz="3400" dirty="0"/>
          </a:p>
        </p:txBody>
      </p:sp>
      <p:sp>
        <p:nvSpPr>
          <p:cNvPr id="4" name="Shape 2"/>
          <p:cNvSpPr/>
          <p:nvPr/>
        </p:nvSpPr>
        <p:spPr>
          <a:xfrm>
            <a:off x="640080" y="1965960"/>
            <a:ext cx="5440680" cy="1691640"/>
          </a:xfrm>
          <a:prstGeom prst="roundRect">
            <a:avLst>
              <a:gd name="adj" fmla="val 4324"/>
            </a:avLst>
          </a:prstGeom>
          <a:solidFill>
            <a:srgbClr val="EFE5D6"/>
          </a:solidFill>
          <a:ln w="9525">
            <a:solidFill>
              <a:srgbClr val="D9CCBB"/>
            </a:solidFill>
            <a:prstDash val="solid"/>
          </a:ln>
        </p:spPr>
      </p:sp>
      <p:sp>
        <p:nvSpPr>
          <p:cNvPr id="5" name="Text 3"/>
          <p:cNvSpPr/>
          <p:nvPr/>
        </p:nvSpPr>
        <p:spPr>
          <a:xfrm>
            <a:off x="914400" y="218541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Live funnel</a:t>
            </a:r>
            <a:endParaRPr lang="en-US" sz="1800" dirty="0"/>
          </a:p>
        </p:txBody>
      </p:sp>
      <p:sp>
        <p:nvSpPr>
          <p:cNvPr id="6" name="Text 4"/>
          <p:cNvSpPr/>
          <p:nvPr/>
        </p:nvSpPr>
        <p:spPr>
          <a:xfrm>
            <a:off x="914400" y="265176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Enquiry → contacted → counselled → visit → admitted — updated with every call</a:t>
            </a:r>
            <a:endParaRPr lang="en-US" sz="1300" dirty="0"/>
          </a:p>
        </p:txBody>
      </p:sp>
      <p:sp>
        <p:nvSpPr>
          <p:cNvPr id="7" name="Shape 5"/>
          <p:cNvSpPr/>
          <p:nvPr/>
        </p:nvSpPr>
        <p:spPr>
          <a:xfrm>
            <a:off x="6263640" y="1965960"/>
            <a:ext cx="5440680" cy="1691640"/>
          </a:xfrm>
          <a:prstGeom prst="roundRect">
            <a:avLst>
              <a:gd name="adj" fmla="val 4324"/>
            </a:avLst>
          </a:prstGeom>
          <a:solidFill>
            <a:srgbClr val="EFE5D6"/>
          </a:solidFill>
          <a:ln w="9525">
            <a:solidFill>
              <a:srgbClr val="D9CCBB"/>
            </a:solidFill>
            <a:prstDash val="solid"/>
          </a:ln>
        </p:spPr>
      </p:sp>
      <p:sp>
        <p:nvSpPr>
          <p:cNvPr id="8" name="Text 6"/>
          <p:cNvSpPr/>
          <p:nvPr/>
        </p:nvSpPr>
        <p:spPr>
          <a:xfrm>
            <a:off x="6537960" y="218541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The 12-department board</a:t>
            </a:r>
            <a:endParaRPr lang="en-US" sz="1800" dirty="0"/>
          </a:p>
        </p:txBody>
      </p:sp>
      <p:sp>
        <p:nvSpPr>
          <p:cNvPr id="9" name="Text 7"/>
          <p:cNvSpPr/>
          <p:nvPr/>
        </p:nvSpPr>
        <p:spPr>
          <a:xfrm>
            <a:off x="6537960" y="265176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Every department’s live activity and status, on one screen</a:t>
            </a:r>
            <a:endParaRPr lang="en-US" sz="1300" dirty="0"/>
          </a:p>
        </p:txBody>
      </p:sp>
      <p:sp>
        <p:nvSpPr>
          <p:cNvPr id="10" name="Shape 8"/>
          <p:cNvSpPr/>
          <p:nvPr/>
        </p:nvSpPr>
        <p:spPr>
          <a:xfrm>
            <a:off x="640080" y="3840480"/>
            <a:ext cx="5440680" cy="1691640"/>
          </a:xfrm>
          <a:prstGeom prst="roundRect">
            <a:avLst>
              <a:gd name="adj" fmla="val 4324"/>
            </a:avLst>
          </a:prstGeom>
          <a:solidFill>
            <a:srgbClr val="EFE5D6"/>
          </a:solidFill>
          <a:ln w="9525">
            <a:solidFill>
              <a:srgbClr val="D9CCBB"/>
            </a:solidFill>
            <a:prstDash val="solid"/>
          </a:ln>
        </p:spPr>
      </p:sp>
      <p:sp>
        <p:nvSpPr>
          <p:cNvPr id="11" name="Text 9"/>
          <p:cNvSpPr/>
          <p:nvPr/>
        </p:nvSpPr>
        <p:spPr>
          <a:xfrm>
            <a:off x="914400" y="405993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Every conversation, on record</a:t>
            </a:r>
            <a:endParaRPr lang="en-US" sz="1800" dirty="0"/>
          </a:p>
        </p:txBody>
      </p:sp>
      <p:sp>
        <p:nvSpPr>
          <p:cNvPr id="12" name="Text 10"/>
          <p:cNvSpPr/>
          <p:nvPr/>
        </p:nvSpPr>
        <p:spPr>
          <a:xfrm>
            <a:off x="914400" y="452628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Full transcripts and summaries — audit any call, any time</a:t>
            </a:r>
            <a:endParaRPr lang="en-US" sz="1300" dirty="0"/>
          </a:p>
        </p:txBody>
      </p:sp>
      <p:sp>
        <p:nvSpPr>
          <p:cNvPr id="13" name="Shape 11"/>
          <p:cNvSpPr/>
          <p:nvPr/>
        </p:nvSpPr>
        <p:spPr>
          <a:xfrm>
            <a:off x="6263640" y="3840480"/>
            <a:ext cx="5440680" cy="1691640"/>
          </a:xfrm>
          <a:prstGeom prst="roundRect">
            <a:avLst>
              <a:gd name="adj" fmla="val 4324"/>
            </a:avLst>
          </a:prstGeom>
          <a:solidFill>
            <a:srgbClr val="EFE5D6"/>
          </a:solidFill>
          <a:ln w="9525">
            <a:solidFill>
              <a:srgbClr val="D9CCBB"/>
            </a:solidFill>
            <a:prstDash val="solid"/>
          </a:ln>
        </p:spPr>
      </p:sp>
      <p:sp>
        <p:nvSpPr>
          <p:cNvPr id="14" name="Text 12"/>
          <p:cNvSpPr/>
          <p:nvPr/>
        </p:nvSpPr>
        <p:spPr>
          <a:xfrm>
            <a:off x="6537960" y="4059936"/>
            <a:ext cx="4892040" cy="365760"/>
          </a:xfrm>
          <a:prstGeom prst="rect">
            <a:avLst/>
          </a:prstGeom>
          <a:noFill/>
          <a:ln/>
        </p:spPr>
        <p:txBody>
          <a:bodyPr wrap="square" lIns="0" tIns="0" rIns="0" bIns="0" rtlCol="0" anchor="ctr"/>
          <a:lstStyle/>
          <a:p>
            <a:pPr indent="0" marL="0">
              <a:buNone/>
            </a:pPr>
            <a:r>
              <a:rPr lang="en-US" sz="1800" b="1" dirty="0">
                <a:solidFill>
                  <a:srgbClr val="6E1B2A"/>
                </a:solidFill>
                <a:latin typeface="Cambria" pitchFamily="34" charset="0"/>
                <a:ea typeface="Cambria" pitchFamily="34" charset="-122"/>
                <a:cs typeface="Cambria" pitchFamily="34" charset="-120"/>
              </a:rPr>
              <a:t>Best-hour analytics</a:t>
            </a:r>
            <a:endParaRPr lang="en-US" sz="1800" dirty="0"/>
          </a:p>
        </p:txBody>
      </p:sp>
      <p:sp>
        <p:nvSpPr>
          <p:cNvPr id="15" name="Text 13"/>
          <p:cNvSpPr/>
          <p:nvPr/>
        </p:nvSpPr>
        <p:spPr>
          <a:xfrm>
            <a:off x="6537960" y="4526280"/>
            <a:ext cx="4892040" cy="822960"/>
          </a:xfrm>
          <a:prstGeom prst="rect">
            <a:avLst/>
          </a:prstGeom>
          <a:noFill/>
          <a:ln/>
        </p:spPr>
        <p:txBody>
          <a:bodyPr wrap="square" lIns="0" tIns="0" rIns="0" bIns="0" rtlCol="0" anchor="ctr"/>
          <a:lstStyle/>
          <a:p>
            <a:pPr indent="0" marL="0">
              <a:buNone/>
            </a:pPr>
            <a:r>
              <a:rPr lang="en-US" sz="1300" dirty="0">
                <a:solidFill>
                  <a:srgbClr val="6E6058"/>
                </a:solidFill>
                <a:latin typeface="Calibri" pitchFamily="34" charset="0"/>
                <a:ea typeface="Calibri" pitchFamily="34" charset="-122"/>
                <a:cs typeface="Calibri" pitchFamily="34" charset="-120"/>
              </a:rPr>
              <a:t>When your parents actually answer — retries target it automatically</a:t>
            </a:r>
            <a:endParaRPr lang="en-US" sz="1300" dirty="0"/>
          </a:p>
        </p:txBody>
      </p:sp>
      <p:sp>
        <p:nvSpPr>
          <p:cNvPr id="16" name="Text 14"/>
          <p:cNvSpPr/>
          <p:nvPr/>
        </p:nvSpPr>
        <p:spPr>
          <a:xfrm>
            <a:off x="640080" y="5943600"/>
            <a:ext cx="10972800" cy="411480"/>
          </a:xfrm>
          <a:prstGeom prst="rect">
            <a:avLst/>
          </a:prstGeom>
          <a:noFill/>
          <a:ln/>
        </p:spPr>
        <p:txBody>
          <a:bodyPr wrap="square" lIns="0" tIns="0" rIns="0" bIns="0" rtlCol="0" anchor="ctr"/>
          <a:lstStyle/>
          <a:p>
            <a:pPr indent="0" marL="0">
              <a:buNone/>
            </a:pPr>
            <a:r>
              <a:rPr lang="en-US" sz="1400" i="1" dirty="0">
                <a:solidFill>
                  <a:srgbClr val="6E6058"/>
                </a:solidFill>
                <a:latin typeface="Calibri" pitchFamily="34" charset="0"/>
                <a:ea typeface="Calibri" pitchFamily="34" charset="-122"/>
                <a:cs typeface="Calibri" pitchFamily="34" charset="-120"/>
              </a:rPr>
              <a:t>No registers. No "let me check and call you back." Open the dashboard and know.</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09 — THE HONEST ECONOMICS</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Real vendor rates, shown to the paisa</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7680960" cy="914400"/>
        </p:xfrm>
        <a:graphic>
          <a:graphicData uri="http://schemas.openxmlformats.org/drawingml/2006/table">
            <a:tbl>
              <a:tblPr/>
              <a:tblGrid>
                <a:gridCol w="3840480"/>
                <a:gridCol w="1371600"/>
                <a:gridCol w="2468880"/>
              </a:tblGrid>
              <a:tr h="475488">
                <a:tc>
                  <a:txBody>
                    <a:bodyPr/>
                    <a:lstStyle/>
                    <a:p>
                      <a:pPr indent="0" marL="0">
                        <a:buNone/>
                      </a:pPr>
                      <a:r>
                        <a:rPr lang="en-US" sz="1350" b="1" dirty="0">
                          <a:solidFill>
                            <a:srgbClr val="2A211C"/>
                          </a:solidFill>
                          <a:latin typeface="Calibri" pitchFamily="34" charset="0"/>
                          <a:ea typeface="Calibri" pitchFamily="34" charset="-122"/>
                          <a:cs typeface="Calibri" pitchFamily="34" charset="-120"/>
                        </a:rPr>
                        <a:t>Component</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b="1" dirty="0">
                          <a:solidFill>
                            <a:srgbClr val="2A211C"/>
                          </a:solidFill>
                          <a:latin typeface="Calibri" pitchFamily="34" charset="0"/>
                          <a:ea typeface="Calibri" pitchFamily="34" charset="-122"/>
                          <a:cs typeface="Calibri" pitchFamily="34" charset="-120"/>
                        </a:rPr>
                        <a:t>Rate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b="1" dirty="0">
                          <a:solidFill>
                            <a:srgbClr val="2A211C"/>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Phone line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₹0.30</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FreJun — written quote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Her voice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₹0.64</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Sarvam AI — published pricing</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Understanding speech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₹0.25</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Sarvam AI — published pricing</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Her thinking (per talk-minute)</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dirty="0">
                          <a:solidFill>
                            <a:srgbClr val="2A211C"/>
                          </a:solidFill>
                          <a:latin typeface="Calibri" pitchFamily="34" charset="0"/>
                          <a:ea typeface="Calibri" pitchFamily="34" charset="-122"/>
                          <a:cs typeface="Calibri" pitchFamily="34" charset="-120"/>
                        </a:rPr>
                        <a:t>₹0.04</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r>
                        <a:rPr lang="en-US" sz="1350" dirty="0">
                          <a:solidFill>
                            <a:srgbClr val="2A211C"/>
                          </a:solidFill>
                          <a:latin typeface="Calibri" pitchFamily="34" charset="0"/>
                          <a:ea typeface="Calibri" pitchFamily="34" charset="-122"/>
                          <a:cs typeface="Calibri" pitchFamily="34" charset="-120"/>
                        </a:rPr>
                        <a:t>Sarvam AI — published pricing</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350" b="1" dirty="0">
                          <a:solidFill>
                            <a:srgbClr val="2A211C"/>
                          </a:solidFill>
                          <a:latin typeface="Calibri" pitchFamily="34" charset="0"/>
                          <a:ea typeface="Calibri" pitchFamily="34" charset="-122"/>
                          <a:cs typeface="Calibri" pitchFamily="34" charset="-120"/>
                        </a:rPr>
                        <a:t>All-in, per minute of real conversation</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r" indent="0" marL="0">
                        <a:buNone/>
                      </a:pPr>
                      <a:r>
                        <a:rPr lang="en-US" sz="1350" b="1" dirty="0">
                          <a:solidFill>
                            <a:srgbClr val="6E1B2A"/>
                          </a:solidFill>
                          <a:latin typeface="Calibri" pitchFamily="34" charset="0"/>
                          <a:ea typeface="Calibri" pitchFamily="34" charset="-122"/>
                          <a:cs typeface="Calibri" pitchFamily="34" charset="-120"/>
                        </a:rPr>
                        <a:t>≈ ₹1.23</a:t>
                      </a: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indent="0" marL="0">
                        <a:buNone/>
                      </a:pPr>
                      <a:endParaRPr lang="en-US" sz="1350" dirty="0">
                        <a:latin typeface="Calibri" charset="0"/>
                        <a:ea typeface="Calibri" charset="0"/>
                        <a:cs typeface="Calibri" charset="0"/>
                      </a:endParaRPr>
                    </a:p>
                  </a:txBody>
                  <a:tcPr marL="73152" marR="73152" marT="73152" marB="73152"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bl>
          </a:graphicData>
        </a:graphic>
      </p:graphicFrame>
      <p:sp>
        <p:nvSpPr>
          <p:cNvPr id="5" name="Shape 2"/>
          <p:cNvSpPr/>
          <p:nvPr/>
        </p:nvSpPr>
        <p:spPr>
          <a:xfrm>
            <a:off x="8595360" y="1920240"/>
            <a:ext cx="2971800" cy="2834640"/>
          </a:xfrm>
          <a:prstGeom prst="roundRect">
            <a:avLst>
              <a:gd name="adj" fmla="val 2581"/>
            </a:avLst>
          </a:prstGeom>
          <a:solidFill>
            <a:srgbClr val="6E1B2A"/>
          </a:solidFill>
          <a:ln/>
        </p:spPr>
      </p:sp>
      <p:sp>
        <p:nvSpPr>
          <p:cNvPr id="6" name="Text 3"/>
          <p:cNvSpPr/>
          <p:nvPr/>
        </p:nvSpPr>
        <p:spPr>
          <a:xfrm>
            <a:off x="8823960" y="2240280"/>
            <a:ext cx="2514600" cy="685800"/>
          </a:xfrm>
          <a:prstGeom prst="rect">
            <a:avLst/>
          </a:prstGeom>
          <a:noFill/>
          <a:ln/>
        </p:spPr>
        <p:txBody>
          <a:bodyPr wrap="square" lIns="0" tIns="0" rIns="0" bIns="0" rtlCol="0" anchor="ctr"/>
          <a:lstStyle/>
          <a:p>
            <a:pPr indent="0" marL="0">
              <a:buNone/>
            </a:pPr>
            <a:r>
              <a:rPr lang="en-US" sz="3800" b="1" dirty="0">
                <a:solidFill>
                  <a:srgbClr val="F3E9DC"/>
                </a:solidFill>
                <a:latin typeface="Cambria" pitchFamily="34" charset="0"/>
                <a:ea typeface="Cambria" pitchFamily="34" charset="-122"/>
                <a:cs typeface="Cambria" pitchFamily="34" charset="-120"/>
              </a:rPr>
              <a:t>≈ ₹8.6</a:t>
            </a:r>
            <a:endParaRPr lang="en-US" sz="3800" dirty="0"/>
          </a:p>
        </p:txBody>
      </p:sp>
      <p:sp>
        <p:nvSpPr>
          <p:cNvPr id="7" name="Text 4"/>
          <p:cNvSpPr/>
          <p:nvPr/>
        </p:nvSpPr>
        <p:spPr>
          <a:xfrm>
            <a:off x="8823960" y="2971800"/>
            <a:ext cx="2514600" cy="640080"/>
          </a:xfrm>
          <a:prstGeom prst="rect">
            <a:avLst/>
          </a:prstGeom>
          <a:noFill/>
          <a:ln/>
        </p:spPr>
        <p:txBody>
          <a:bodyPr wrap="square" lIns="0" tIns="0" rIns="0" bIns="0" rtlCol="0" anchor="ctr"/>
          <a:lstStyle/>
          <a:p>
            <a:pPr indent="0" marL="0">
              <a:buNone/>
            </a:pPr>
            <a:r>
              <a:rPr lang="en-US" sz="1300" dirty="0">
                <a:solidFill>
                  <a:srgbClr val="F3E9DC"/>
                </a:solidFill>
                <a:latin typeface="Calibri" pitchFamily="34" charset="0"/>
                <a:ea typeface="Calibri" pitchFamily="34" charset="-122"/>
                <a:cs typeface="Calibri" pitchFamily="34" charset="-120"/>
              </a:rPr>
              <a:t>for a full 7-minute</a:t>
            </a:r>
            <a:endParaRPr lang="en-US" sz="1300" dirty="0"/>
          </a:p>
          <a:p>
            <a:pPr indent="0" marL="0">
              <a:buNone/>
            </a:pPr>
            <a:r>
              <a:rPr lang="en-US" sz="1300" dirty="0">
                <a:solidFill>
                  <a:srgbClr val="F3E9DC"/>
                </a:solidFill>
                <a:latin typeface="Calibri" pitchFamily="34" charset="0"/>
                <a:ea typeface="Calibri" pitchFamily="34" charset="-122"/>
                <a:cs typeface="Calibri" pitchFamily="34" charset="-120"/>
              </a:rPr>
              <a:t>counselling call</a:t>
            </a:r>
            <a:endParaRPr lang="en-US" sz="1300" dirty="0"/>
          </a:p>
        </p:txBody>
      </p:sp>
      <p:sp>
        <p:nvSpPr>
          <p:cNvPr id="8" name="Text 5"/>
          <p:cNvSpPr/>
          <p:nvPr/>
        </p:nvSpPr>
        <p:spPr>
          <a:xfrm>
            <a:off x="8823960" y="3794760"/>
            <a:ext cx="2514600" cy="640080"/>
          </a:xfrm>
          <a:prstGeom prst="rect">
            <a:avLst/>
          </a:prstGeom>
          <a:noFill/>
          <a:ln/>
        </p:spPr>
        <p:txBody>
          <a:bodyPr wrap="square" lIns="0" tIns="0" rIns="0" bIns="0" rtlCol="0" anchor="ctr"/>
          <a:lstStyle/>
          <a:p>
            <a:pPr indent="0" marL="0">
              <a:buNone/>
            </a:pPr>
            <a:r>
              <a:rPr lang="en-US" sz="1150" i="1" dirty="0">
                <a:solidFill>
                  <a:srgbClr val="C9AFA3"/>
                </a:solidFill>
                <a:latin typeface="Calibri" pitchFamily="34" charset="0"/>
                <a:ea typeface="Calibri" pitchFamily="34" charset="-122"/>
                <a:cs typeface="Calibri" pitchFamily="34" charset="-120"/>
              </a:rPr>
              <a:t>less than the chai</a:t>
            </a:r>
            <a:endParaRPr lang="en-US" sz="1150" dirty="0"/>
          </a:p>
          <a:p>
            <a:pPr indent="0" marL="0">
              <a:buNone/>
            </a:pPr>
            <a:r>
              <a:rPr lang="en-US" sz="1150" i="1" dirty="0">
                <a:solidFill>
                  <a:srgbClr val="C9AFA3"/>
                </a:solidFill>
                <a:latin typeface="Calibri" pitchFamily="34" charset="0"/>
                <a:ea typeface="Calibri" pitchFamily="34" charset="-122"/>
                <a:cs typeface="Calibri" pitchFamily="34" charset="-120"/>
              </a:rPr>
              <a:t>you’d serve a walk-in</a:t>
            </a:r>
            <a:endParaRPr lang="en-US" sz="1150" dirty="0"/>
          </a:p>
        </p:txBody>
      </p:sp>
      <p:sp>
        <p:nvSpPr>
          <p:cNvPr id="9" name="Text 6"/>
          <p:cNvSpPr/>
          <p:nvPr/>
        </p:nvSpPr>
        <p:spPr>
          <a:xfrm>
            <a:off x="640080" y="5257800"/>
            <a:ext cx="10881360" cy="548640"/>
          </a:xfrm>
          <a:prstGeom prst="rect">
            <a:avLst/>
          </a:prstGeom>
          <a:noFill/>
          <a:ln/>
        </p:spPr>
        <p:txBody>
          <a:bodyPr wrap="square" lIns="0" tIns="0" rIns="0" bIns="0" rtlCol="0" anchor="ctr"/>
          <a:lstStyle/>
          <a:p>
            <a:pPr indent="0" marL="0">
              <a:buNone/>
            </a:pPr>
            <a:r>
              <a:rPr lang="en-US" sz="1250" i="1" dirty="0">
                <a:solidFill>
                  <a:srgbClr val="6E6058"/>
                </a:solidFill>
                <a:latin typeface="Calibri" pitchFamily="34" charset="0"/>
                <a:ea typeface="Calibri" pitchFamily="34" charset="-122"/>
                <a:cs typeface="Calibri" pitchFamily="34" charset="-120"/>
              </a:rPr>
              <a:t>Call volumes are modelled until your real data replaces them — every assumption in our numbers is marked, and every vendor bill is visible to you.</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384048"/>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10 — YOUR INVESTMENT</a:t>
            </a:r>
            <a:endParaRPr lang="en-US" sz="1100" dirty="0"/>
          </a:p>
        </p:txBody>
      </p:sp>
      <p:sp>
        <p:nvSpPr>
          <p:cNvPr id="3" name="Text 1"/>
          <p:cNvSpPr/>
          <p:nvPr/>
        </p:nvSpPr>
        <p:spPr>
          <a:xfrm>
            <a:off x="640080" y="713232"/>
            <a:ext cx="11155680" cy="594360"/>
          </a:xfrm>
          <a:prstGeom prst="rect">
            <a:avLst/>
          </a:prstGeom>
          <a:noFill/>
          <a:ln/>
        </p:spPr>
        <p:txBody>
          <a:bodyPr wrap="square" lIns="0" tIns="0" rIns="0" bIns="0" rtlCol="0" anchor="ctr"/>
          <a:lstStyle/>
          <a:p>
            <a:pPr indent="0" marL="0">
              <a:buNone/>
            </a:pPr>
            <a:r>
              <a:rPr lang="en-US" sz="2700" b="1" dirty="0">
                <a:solidFill>
                  <a:srgbClr val="2A211C"/>
                </a:solidFill>
                <a:latin typeface="Cambria" pitchFamily="34" charset="0"/>
                <a:ea typeface="Cambria" pitchFamily="34" charset="-122"/>
                <a:cs typeface="Cambria" pitchFamily="34" charset="-120"/>
              </a:rPr>
              <a:t>We take a flat fee. Everything else is a visible vendor bill.</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08792" cy="914400"/>
        </p:xfrm>
        <a:graphic>
          <a:graphicData uri="http://schemas.openxmlformats.org/drawingml/2006/table">
            <a:tbl>
              <a:tblPr/>
              <a:tblGrid>
                <a:gridCol w="3776472"/>
                <a:gridCol w="2377440"/>
                <a:gridCol w="2377440"/>
                <a:gridCol w="2377440"/>
              </a:tblGrid>
              <a:tr h="475488">
                <a:tc>
                  <a:txBody>
                    <a:bodyPr/>
                    <a:lstStyle/>
                    <a:p>
                      <a:pPr indent="0" marL="0">
                        <a:buNone/>
                      </a:pP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c>
                  <a:txBody>
                    <a:bodyPr/>
                    <a:lstStyle/>
                    <a:p>
                      <a:pPr algn="ctr" indent="0" marL="0">
                        <a:buNone/>
                      </a:pPr>
                      <a:r>
                        <a:rPr lang="en-US" sz="1250" b="1" dirty="0">
                          <a:solidFill>
                            <a:srgbClr val="2A211C"/>
                          </a:solidFill>
                          <a:latin typeface="Calibri" pitchFamily="34" charset="0"/>
                          <a:ea typeface="Calibri" pitchFamily="34" charset="-122"/>
                          <a:cs typeface="Calibri" pitchFamily="34" charset="-120"/>
                        </a:rPr>
                        <a:t>Replaces 5 people</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c>
                  <a:txBody>
                    <a:bodyPr/>
                    <a:lstStyle/>
                    <a:p>
                      <a:pPr algn="ctr" indent="0" marL="0">
                        <a:buNone/>
                      </a:pPr>
                      <a:r>
                        <a:rPr lang="en-US" sz="1250" b="1" dirty="0">
                          <a:solidFill>
                            <a:srgbClr val="2A211C"/>
                          </a:solidFill>
                          <a:latin typeface="Calibri" pitchFamily="34" charset="0"/>
                          <a:ea typeface="Calibri" pitchFamily="34" charset="-122"/>
                          <a:cs typeface="Calibri" pitchFamily="34" charset="-120"/>
                        </a:rPr>
                        <a:t>Replaces 15 people</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c>
                  <a:txBody>
                    <a:bodyPr/>
                    <a:lstStyle/>
                    <a:p>
                      <a:pPr algn="ctr" indent="0" marL="0">
                        <a:buNone/>
                      </a:pPr>
                      <a:r>
                        <a:rPr lang="en-US" sz="1250" b="1" dirty="0">
                          <a:solidFill>
                            <a:srgbClr val="2A211C"/>
                          </a:solidFill>
                          <a:latin typeface="Calibri" pitchFamily="34" charset="0"/>
                          <a:ea typeface="Calibri" pitchFamily="34" charset="-122"/>
                          <a:cs typeface="Calibri" pitchFamily="34" charset="-120"/>
                        </a:rPr>
                        <a:t>Replaces 30 people</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EFE5D6"/>
                    </a:solidFill>
                  </a:tcPr>
                </a:tc>
              </a:tr>
              <a:tr h="475488">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One-time setup</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₹50,000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₹1,00,000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₹1,50,000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Vendor costs / month (at actual, pass-through)</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₹36,000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₹1,01,000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₹2,05,000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250" b="1" dirty="0">
                          <a:solidFill>
                            <a:srgbClr val="2A211C"/>
                          </a:solidFill>
                          <a:latin typeface="Calibri" pitchFamily="34" charset="0"/>
                          <a:ea typeface="Calibri" pitchFamily="34" charset="-122"/>
                          <a:cs typeface="Calibri" pitchFamily="34" charset="-120"/>
                        </a:rPr>
                        <a:t>Our management fee / month</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6E1B2A"/>
                          </a:solidFill>
                          <a:latin typeface="Calibri" pitchFamily="34" charset="0"/>
                          <a:ea typeface="Calibri" pitchFamily="34" charset="-122"/>
                          <a:cs typeface="Calibri" pitchFamily="34" charset="-120"/>
                        </a:rPr>
                        <a:t>₹10,000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6E1B2A"/>
                          </a:solidFill>
                          <a:latin typeface="Calibri" pitchFamily="34" charset="0"/>
                          <a:ea typeface="Calibri" pitchFamily="34" charset="-122"/>
                          <a:cs typeface="Calibri" pitchFamily="34" charset="-120"/>
                        </a:rPr>
                        <a:t>₹25,000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6E1B2A"/>
                          </a:solidFill>
                          <a:latin typeface="Calibri" pitchFamily="34" charset="0"/>
                          <a:ea typeface="Calibri" pitchFamily="34" charset="-122"/>
                          <a:cs typeface="Calibri" pitchFamily="34" charset="-120"/>
                        </a:rPr>
                        <a:t>₹50,000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Total monthly outflow</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₹46,000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₹1,26,000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 ₹2,55,000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250" dirty="0">
                          <a:solidFill>
                            <a:srgbClr val="2A211C"/>
                          </a:solidFill>
                          <a:latin typeface="Calibri" pitchFamily="34" charset="0"/>
                          <a:ea typeface="Calibri" pitchFamily="34" charset="-122"/>
                          <a:cs typeface="Calibri" pitchFamily="34" charset="-120"/>
                        </a:rPr>
                        <a:t>The salary bill it replaces</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₹75,000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₹2,25,000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dirty="0">
                          <a:solidFill>
                            <a:srgbClr val="2A211C"/>
                          </a:solidFill>
                          <a:latin typeface="Calibri" pitchFamily="34" charset="0"/>
                          <a:ea typeface="Calibri" pitchFamily="34" charset="-122"/>
                          <a:cs typeface="Calibri" pitchFamily="34" charset="-120"/>
                        </a:rPr>
                        <a:t>₹4,50,000</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r h="475488">
                <a:tc>
                  <a:txBody>
                    <a:bodyPr/>
                    <a:lstStyle/>
                    <a:p>
                      <a:pPr indent="0" marL="0">
                        <a:buNone/>
                      </a:pPr>
                      <a:r>
                        <a:rPr lang="en-US" sz="1250" b="1" dirty="0">
                          <a:solidFill>
                            <a:srgbClr val="2A211C"/>
                          </a:solidFill>
                          <a:latin typeface="Calibri" pitchFamily="34" charset="0"/>
                          <a:ea typeface="Calibri" pitchFamily="34" charset="-122"/>
                          <a:cs typeface="Calibri" pitchFamily="34" charset="-120"/>
                        </a:rPr>
                        <a:t>You save, every month</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2E7D4F"/>
                          </a:solidFill>
                          <a:latin typeface="Calibri" pitchFamily="34" charset="0"/>
                          <a:ea typeface="Calibri" pitchFamily="34" charset="-122"/>
                          <a:cs typeface="Calibri" pitchFamily="34" charset="-120"/>
                        </a:rPr>
                        <a:t>≈ ₹29,000 (39%)</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2E7D4F"/>
                          </a:solidFill>
                          <a:latin typeface="Calibri" pitchFamily="34" charset="0"/>
                          <a:ea typeface="Calibri" pitchFamily="34" charset="-122"/>
                          <a:cs typeface="Calibri" pitchFamily="34" charset="-120"/>
                        </a:rPr>
                        <a:t>≈ ₹99,000 (44%)</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c>
                  <a:txBody>
                    <a:bodyPr/>
                    <a:lstStyle/>
                    <a:p>
                      <a:pPr algn="ctr" indent="0" marL="0">
                        <a:buNone/>
                      </a:pPr>
                      <a:r>
                        <a:rPr lang="en-US" sz="1250" b="1" dirty="0">
                          <a:solidFill>
                            <a:srgbClr val="2E7D4F"/>
                          </a:solidFill>
                          <a:latin typeface="Calibri" pitchFamily="34" charset="0"/>
                          <a:ea typeface="Calibri" pitchFamily="34" charset="-122"/>
                          <a:cs typeface="Calibri" pitchFamily="34" charset="-120"/>
                        </a:rPr>
                        <a:t>≈ ₹1,95,000 (43%)</a:t>
                      </a:r>
                      <a:endParaRPr lang="en-US" sz="1250" dirty="0">
                        <a:latin typeface="Calibri" charset="0"/>
                        <a:ea typeface="Calibri" charset="0"/>
                        <a:cs typeface="Calibri" charset="0"/>
                      </a:endParaRPr>
                    </a:p>
                  </a:txBody>
                  <a:tcPr marL="64008" marR="64008" marT="64008" marB="64008" anchor="ctr">
                    <a:lnL w="6350" cap="flat" cmpd="sng" algn="ctr">
                      <a:solidFill>
                        <a:srgbClr val="D9CCBB"/>
                      </a:solidFill>
                      <a:prstDash val="solid"/>
                      <a:round/>
                      <a:headEnd type="none" w="med" len="med"/>
                      <a:tailEnd type="none" w="med" len="med"/>
                    </a:lnL>
                    <a:lnR w="6350" cap="flat" cmpd="sng" algn="ctr">
                      <a:solidFill>
                        <a:srgbClr val="D9CCBB"/>
                      </a:solidFill>
                      <a:prstDash val="solid"/>
                      <a:round/>
                      <a:headEnd type="none" w="med" len="med"/>
                      <a:tailEnd type="none" w="med" len="med"/>
                    </a:lnR>
                    <a:lnT w="6350" cap="flat" cmpd="sng" algn="ctr">
                      <a:solidFill>
                        <a:srgbClr val="D9CCBB"/>
                      </a:solidFill>
                      <a:prstDash val="solid"/>
                      <a:round/>
                      <a:headEnd type="none" w="med" len="med"/>
                      <a:tailEnd type="none" w="med" len="med"/>
                    </a:lnT>
                    <a:lnB w="6350" cap="flat" cmpd="sng" algn="ctr">
                      <a:solidFill>
                        <a:srgbClr val="D9CCBB"/>
                      </a:solidFill>
                      <a:prstDash val="solid"/>
                      <a:round/>
                      <a:headEnd type="none" w="med" len="med"/>
                      <a:tailEnd type="none" w="med" len="med"/>
                    </a:lnB>
                    <a:solidFill>
                      <a:srgbClr val="FBF7F0"/>
                    </a:solidFill>
                  </a:tcPr>
                </a:tc>
              </a:tr>
            </a:tbl>
          </a:graphicData>
        </a:graphic>
      </p:graphicFrame>
      <p:sp>
        <p:nvSpPr>
          <p:cNvPr id="5" name="Text 2"/>
          <p:cNvSpPr/>
          <p:nvPr/>
        </p:nvSpPr>
        <p:spPr>
          <a:xfrm>
            <a:off x="640080" y="5257800"/>
            <a:ext cx="10881360" cy="502920"/>
          </a:xfrm>
          <a:prstGeom prst="rect">
            <a:avLst/>
          </a:prstGeom>
          <a:noFill/>
          <a:ln/>
        </p:spPr>
        <p:txBody>
          <a:bodyPr wrap="square" lIns="0" tIns="0" rIns="0" bIns="0" rtlCol="0" anchor="ctr"/>
          <a:lstStyle/>
          <a:p>
            <a:pPr indent="0" marL="0">
              <a:buNone/>
            </a:pPr>
            <a:r>
              <a:rPr lang="en-US" sz="1450" b="1" i="1" dirty="0">
                <a:solidFill>
                  <a:srgbClr val="6E1B2A"/>
                </a:solidFill>
                <a:latin typeface="Calibri" pitchFamily="34" charset="0"/>
                <a:ea typeface="Calibri" pitchFamily="34" charset="-122"/>
                <a:cs typeface="Calibri" pitchFamily="34" charset="-120"/>
              </a:rPr>
              <a:t>For every ₹1 you pay us, you keep ₹3–4 in savings — and our entire fee is less than the salary of two of the people you no longer need to hire.</a:t>
            </a:r>
            <a:endParaRPr lang="en-US" sz="1450" dirty="0"/>
          </a:p>
        </p:txBody>
      </p:sp>
      <p:sp>
        <p:nvSpPr>
          <p:cNvPr id="6" name="Text 3"/>
          <p:cNvSpPr/>
          <p:nvPr/>
        </p:nvSpPr>
        <p:spPr>
          <a:xfrm>
            <a:off x="640080" y="5897880"/>
            <a:ext cx="10881360" cy="502920"/>
          </a:xfrm>
          <a:prstGeom prst="rect">
            <a:avLst/>
          </a:prstGeom>
          <a:noFill/>
          <a:ln/>
        </p:spPr>
        <p:txBody>
          <a:bodyPr wrap="square" lIns="0" tIns="0" rIns="0" bIns="0" rtlCol="0" anchor="ctr"/>
          <a:lstStyle/>
          <a:p>
            <a:pPr indent="0" marL="0">
              <a:buNone/>
            </a:pPr>
            <a:r>
              <a:rPr lang="en-US" sz="1050" dirty="0">
                <a:solidFill>
                  <a:srgbClr val="6E6058"/>
                </a:solidFill>
                <a:latin typeface="Calibri" pitchFamily="34" charset="0"/>
                <a:ea typeface="Calibri" pitchFamily="34" charset="-122"/>
                <a:cs typeface="Calibri" pitchFamily="34" charset="-120"/>
              </a:rPr>
              <a:t>Vendor accounts in your name, bills visible to you, +GST as applicable. Monthly totals assume modelled call volumes; your real bill follows your real minutes.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E1220"/>
        </a:solidFill>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indent="0" marL="0">
              <a:buNone/>
            </a:pPr>
            <a:r>
              <a:rPr lang="en-US" sz="1100" b="1" spc="300" kern="0" dirty="0">
                <a:solidFill>
                  <a:srgbClr val="E4A3AE"/>
                </a:solidFill>
                <a:latin typeface="Calibri" pitchFamily="34" charset="0"/>
                <a:ea typeface="Calibri" pitchFamily="34" charset="-122"/>
                <a:cs typeface="Calibri" pitchFamily="34" charset="-120"/>
              </a:rPr>
              <a:t>11 — THE ONLY MATH THAT MATTERS</a:t>
            </a:r>
            <a:endParaRPr lang="en-US" sz="1100" dirty="0"/>
          </a:p>
        </p:txBody>
      </p:sp>
      <p:sp>
        <p:nvSpPr>
          <p:cNvPr id="3" name="Text 1"/>
          <p:cNvSpPr/>
          <p:nvPr/>
        </p:nvSpPr>
        <p:spPr>
          <a:xfrm>
            <a:off x="640080" y="1188720"/>
            <a:ext cx="11155680" cy="1463040"/>
          </a:xfrm>
          <a:prstGeom prst="rect">
            <a:avLst/>
          </a:prstGeom>
          <a:noFill/>
          <a:ln/>
        </p:spPr>
        <p:txBody>
          <a:bodyPr wrap="square" lIns="0" tIns="0" rIns="0" bIns="0" rtlCol="0" anchor="ctr"/>
          <a:lstStyle/>
          <a:p>
            <a:pPr indent="0" marL="0">
              <a:buNone/>
            </a:pPr>
            <a:r>
              <a:rPr lang="en-US" sz="4400" b="1" dirty="0">
                <a:solidFill>
                  <a:srgbClr val="F3E9DC"/>
                </a:solidFill>
                <a:latin typeface="Cambria" pitchFamily="34" charset="0"/>
                <a:ea typeface="Cambria" pitchFamily="34" charset="-122"/>
                <a:cs typeface="Cambria" pitchFamily="34" charset="-120"/>
              </a:rPr>
              <a:t>One saved admission pays for all of it.</a:t>
            </a:r>
            <a:endParaRPr lang="en-US" sz="4400" dirty="0"/>
          </a:p>
        </p:txBody>
      </p:sp>
      <p:sp>
        <p:nvSpPr>
          <p:cNvPr id="4" name="Shape 2"/>
          <p:cNvSpPr/>
          <p:nvPr/>
        </p:nvSpPr>
        <p:spPr>
          <a:xfrm>
            <a:off x="640080" y="3017520"/>
            <a:ext cx="3566160" cy="2011680"/>
          </a:xfrm>
          <a:prstGeom prst="roundRect">
            <a:avLst>
              <a:gd name="adj" fmla="val 3636"/>
            </a:avLst>
          </a:prstGeom>
          <a:solidFill>
            <a:srgbClr val="5E1B29"/>
          </a:solidFill>
          <a:ln w="9525">
            <a:solidFill>
              <a:srgbClr val="7A3040"/>
            </a:solidFill>
            <a:prstDash val="solid"/>
          </a:ln>
        </p:spPr>
      </p:sp>
      <p:sp>
        <p:nvSpPr>
          <p:cNvPr id="5" name="Text 3"/>
          <p:cNvSpPr/>
          <p:nvPr/>
        </p:nvSpPr>
        <p:spPr>
          <a:xfrm>
            <a:off x="896112" y="3246120"/>
            <a:ext cx="3063240" cy="274320"/>
          </a:xfrm>
          <a:prstGeom prst="rect">
            <a:avLst/>
          </a:prstGeom>
          <a:noFill/>
          <a:ln/>
        </p:spPr>
        <p:txBody>
          <a:bodyPr wrap="square" lIns="0" tIns="0" rIns="0" bIns="0" rtlCol="0" anchor="ctr"/>
          <a:lstStyle/>
          <a:p>
            <a:pPr indent="0" marL="0">
              <a:buNone/>
            </a:pPr>
            <a:r>
              <a:rPr lang="en-US" sz="1050" b="1" spc="200" kern="0" dirty="0">
                <a:solidFill>
                  <a:srgbClr val="C9AFA3"/>
                </a:solidFill>
                <a:latin typeface="Calibri" pitchFamily="34" charset="0"/>
                <a:ea typeface="Calibri" pitchFamily="34" charset="-122"/>
                <a:cs typeface="Calibri" pitchFamily="34" charset="-120"/>
              </a:rPr>
              <a:t>ONE ADMISSION</a:t>
            </a:r>
            <a:endParaRPr lang="en-US" sz="1050" dirty="0"/>
          </a:p>
        </p:txBody>
      </p:sp>
      <p:sp>
        <p:nvSpPr>
          <p:cNvPr id="6" name="Text 4"/>
          <p:cNvSpPr/>
          <p:nvPr/>
        </p:nvSpPr>
        <p:spPr>
          <a:xfrm>
            <a:off x="896112" y="3566160"/>
            <a:ext cx="3063240" cy="640080"/>
          </a:xfrm>
          <a:prstGeom prst="rect">
            <a:avLst/>
          </a:prstGeom>
          <a:noFill/>
          <a:ln/>
        </p:spPr>
        <p:txBody>
          <a:bodyPr wrap="square" lIns="0" tIns="0" rIns="0" bIns="0" rtlCol="0" anchor="ctr"/>
          <a:lstStyle/>
          <a:p>
            <a:pPr indent="0" marL="0">
              <a:buNone/>
            </a:pPr>
            <a:r>
              <a:rPr lang="en-US" sz="2900" b="1" dirty="0">
                <a:solidFill>
                  <a:srgbClr val="F3E9DC"/>
                </a:solidFill>
                <a:latin typeface="Cambria" pitchFamily="34" charset="0"/>
                <a:ea typeface="Cambria" pitchFamily="34" charset="-122"/>
                <a:cs typeface="Cambria" pitchFamily="34" charset="-120"/>
              </a:rPr>
              <a:t>₹1.5–3 lakh</a:t>
            </a:r>
            <a:endParaRPr lang="en-US" sz="2900" dirty="0"/>
          </a:p>
        </p:txBody>
      </p:sp>
      <p:sp>
        <p:nvSpPr>
          <p:cNvPr id="7" name="Text 5"/>
          <p:cNvSpPr/>
          <p:nvPr/>
        </p:nvSpPr>
        <p:spPr>
          <a:xfrm>
            <a:off x="896112" y="4251960"/>
            <a:ext cx="3063240" cy="548640"/>
          </a:xfrm>
          <a:prstGeom prst="rect">
            <a:avLst/>
          </a:prstGeom>
          <a:noFill/>
          <a:ln/>
        </p:spPr>
        <p:txBody>
          <a:bodyPr wrap="square" lIns="0" tIns="0" rIns="0" bIns="0" rtlCol="0" anchor="ctr"/>
          <a:lstStyle/>
          <a:p>
            <a:pPr indent="0" marL="0">
              <a:buNone/>
            </a:pPr>
            <a:r>
              <a:rPr lang="en-US" sz="1250" dirty="0">
                <a:solidFill>
                  <a:srgbClr val="C9AFA3"/>
                </a:solidFill>
                <a:latin typeface="Calibri" pitchFamily="34" charset="0"/>
                <a:ea typeface="Calibri" pitchFamily="34" charset="-122"/>
                <a:cs typeface="Calibri" pitchFamily="34" charset="-120"/>
              </a:rPr>
              <a:t>in fees over two years</a:t>
            </a:r>
            <a:endParaRPr lang="en-US" sz="1250" dirty="0"/>
          </a:p>
        </p:txBody>
      </p:sp>
      <p:sp>
        <p:nvSpPr>
          <p:cNvPr id="8" name="Shape 6"/>
          <p:cNvSpPr/>
          <p:nvPr/>
        </p:nvSpPr>
        <p:spPr>
          <a:xfrm>
            <a:off x="4434840" y="3017520"/>
            <a:ext cx="3566160" cy="2011680"/>
          </a:xfrm>
          <a:prstGeom prst="roundRect">
            <a:avLst>
              <a:gd name="adj" fmla="val 3636"/>
            </a:avLst>
          </a:prstGeom>
          <a:solidFill>
            <a:srgbClr val="5E1B29"/>
          </a:solidFill>
          <a:ln w="9525">
            <a:solidFill>
              <a:srgbClr val="7A3040"/>
            </a:solidFill>
            <a:prstDash val="solid"/>
          </a:ln>
        </p:spPr>
      </p:sp>
      <p:sp>
        <p:nvSpPr>
          <p:cNvPr id="9" name="Text 7"/>
          <p:cNvSpPr/>
          <p:nvPr/>
        </p:nvSpPr>
        <p:spPr>
          <a:xfrm>
            <a:off x="4690872" y="3246120"/>
            <a:ext cx="3063240" cy="274320"/>
          </a:xfrm>
          <a:prstGeom prst="rect">
            <a:avLst/>
          </a:prstGeom>
          <a:noFill/>
          <a:ln/>
        </p:spPr>
        <p:txBody>
          <a:bodyPr wrap="square" lIns="0" tIns="0" rIns="0" bIns="0" rtlCol="0" anchor="ctr"/>
          <a:lstStyle/>
          <a:p>
            <a:pPr indent="0" marL="0">
              <a:buNone/>
            </a:pPr>
            <a:r>
              <a:rPr lang="en-US" sz="1050" b="1" spc="200" kern="0" dirty="0">
                <a:solidFill>
                  <a:srgbClr val="C9AFA3"/>
                </a:solidFill>
                <a:latin typeface="Calibri" pitchFamily="34" charset="0"/>
                <a:ea typeface="Calibri" pitchFamily="34" charset="-122"/>
                <a:cs typeface="Calibri" pitchFamily="34" charset="-120"/>
              </a:rPr>
              <a:t>OUR FEE, A FULL YEAR</a:t>
            </a:r>
            <a:endParaRPr lang="en-US" sz="1050" dirty="0"/>
          </a:p>
        </p:txBody>
      </p:sp>
      <p:sp>
        <p:nvSpPr>
          <p:cNvPr id="10" name="Text 8"/>
          <p:cNvSpPr/>
          <p:nvPr/>
        </p:nvSpPr>
        <p:spPr>
          <a:xfrm>
            <a:off x="4690872" y="3566160"/>
            <a:ext cx="3063240" cy="640080"/>
          </a:xfrm>
          <a:prstGeom prst="rect">
            <a:avLst/>
          </a:prstGeom>
          <a:noFill/>
          <a:ln/>
        </p:spPr>
        <p:txBody>
          <a:bodyPr wrap="square" lIns="0" tIns="0" rIns="0" bIns="0" rtlCol="0" anchor="ctr"/>
          <a:lstStyle/>
          <a:p>
            <a:pPr indent="0" marL="0">
              <a:buNone/>
            </a:pPr>
            <a:r>
              <a:rPr lang="en-US" sz="2900" b="1" dirty="0">
                <a:solidFill>
                  <a:srgbClr val="F3E9DC"/>
                </a:solidFill>
                <a:latin typeface="Cambria" pitchFamily="34" charset="0"/>
                <a:ea typeface="Cambria" pitchFamily="34" charset="-122"/>
                <a:cs typeface="Cambria" pitchFamily="34" charset="-120"/>
              </a:rPr>
              <a:t>₹1.2–6 lakh</a:t>
            </a:r>
            <a:endParaRPr lang="en-US" sz="2900" dirty="0"/>
          </a:p>
        </p:txBody>
      </p:sp>
      <p:sp>
        <p:nvSpPr>
          <p:cNvPr id="11" name="Text 9"/>
          <p:cNvSpPr/>
          <p:nvPr/>
        </p:nvSpPr>
        <p:spPr>
          <a:xfrm>
            <a:off x="4690872" y="4251960"/>
            <a:ext cx="3063240" cy="548640"/>
          </a:xfrm>
          <a:prstGeom prst="rect">
            <a:avLst/>
          </a:prstGeom>
          <a:noFill/>
          <a:ln/>
        </p:spPr>
        <p:txBody>
          <a:bodyPr wrap="square" lIns="0" tIns="0" rIns="0" bIns="0" rtlCol="0" anchor="ctr"/>
          <a:lstStyle/>
          <a:p>
            <a:pPr indent="0" marL="0">
              <a:buNone/>
            </a:pPr>
            <a:r>
              <a:rPr lang="en-US" sz="1250" dirty="0">
                <a:solidFill>
                  <a:srgbClr val="C9AFA3"/>
                </a:solidFill>
                <a:latin typeface="Calibri" pitchFamily="34" charset="0"/>
                <a:ea typeface="Calibri" pitchFamily="34" charset="-122"/>
                <a:cs typeface="Calibri" pitchFamily="34" charset="-120"/>
              </a:rPr>
              <a:t>by team size — setup included</a:t>
            </a:r>
            <a:endParaRPr lang="en-US" sz="1250" dirty="0"/>
          </a:p>
        </p:txBody>
      </p:sp>
      <p:sp>
        <p:nvSpPr>
          <p:cNvPr id="12" name="Shape 10"/>
          <p:cNvSpPr/>
          <p:nvPr/>
        </p:nvSpPr>
        <p:spPr>
          <a:xfrm>
            <a:off x="8229600" y="3017520"/>
            <a:ext cx="3566160" cy="2011680"/>
          </a:xfrm>
          <a:prstGeom prst="roundRect">
            <a:avLst>
              <a:gd name="adj" fmla="val 3636"/>
            </a:avLst>
          </a:prstGeom>
          <a:solidFill>
            <a:srgbClr val="5E1B29"/>
          </a:solidFill>
          <a:ln w="9525">
            <a:solidFill>
              <a:srgbClr val="7A3040"/>
            </a:solidFill>
            <a:prstDash val="solid"/>
          </a:ln>
        </p:spPr>
      </p:sp>
      <p:sp>
        <p:nvSpPr>
          <p:cNvPr id="13" name="Text 11"/>
          <p:cNvSpPr/>
          <p:nvPr/>
        </p:nvSpPr>
        <p:spPr>
          <a:xfrm>
            <a:off x="8485632" y="3246120"/>
            <a:ext cx="3063240" cy="274320"/>
          </a:xfrm>
          <a:prstGeom prst="rect">
            <a:avLst/>
          </a:prstGeom>
          <a:noFill/>
          <a:ln/>
        </p:spPr>
        <p:txBody>
          <a:bodyPr wrap="square" lIns="0" tIns="0" rIns="0" bIns="0" rtlCol="0" anchor="ctr"/>
          <a:lstStyle/>
          <a:p>
            <a:pPr indent="0" marL="0">
              <a:buNone/>
            </a:pPr>
            <a:r>
              <a:rPr lang="en-US" sz="1050" b="1" spc="200" kern="0" dirty="0">
                <a:solidFill>
                  <a:srgbClr val="C9AFA3"/>
                </a:solidFill>
                <a:latin typeface="Calibri" pitchFamily="34" charset="0"/>
                <a:ea typeface="Calibri" pitchFamily="34" charset="-122"/>
                <a:cs typeface="Calibri" pitchFamily="34" charset="-120"/>
              </a:rPr>
              <a:t>SO SHE NEEDS TO SAVE</a:t>
            </a:r>
            <a:endParaRPr lang="en-US" sz="1050" dirty="0"/>
          </a:p>
        </p:txBody>
      </p:sp>
      <p:sp>
        <p:nvSpPr>
          <p:cNvPr id="14" name="Text 12"/>
          <p:cNvSpPr/>
          <p:nvPr/>
        </p:nvSpPr>
        <p:spPr>
          <a:xfrm>
            <a:off x="8485632" y="3566160"/>
            <a:ext cx="3063240" cy="640080"/>
          </a:xfrm>
          <a:prstGeom prst="rect">
            <a:avLst/>
          </a:prstGeom>
          <a:noFill/>
          <a:ln/>
        </p:spPr>
        <p:txBody>
          <a:bodyPr wrap="square" lIns="0" tIns="0" rIns="0" bIns="0" rtlCol="0" anchor="ctr"/>
          <a:lstStyle/>
          <a:p>
            <a:pPr indent="0" marL="0">
              <a:buNone/>
            </a:pPr>
            <a:r>
              <a:rPr lang="en-US" sz="2900" b="1" dirty="0">
                <a:solidFill>
                  <a:srgbClr val="F3E9DC"/>
                </a:solidFill>
                <a:latin typeface="Cambria" pitchFamily="34" charset="0"/>
                <a:ea typeface="Cambria" pitchFamily="34" charset="-122"/>
                <a:cs typeface="Cambria" pitchFamily="34" charset="-120"/>
              </a:rPr>
              <a:t>1–2 admissions</a:t>
            </a:r>
            <a:endParaRPr lang="en-US" sz="2900" dirty="0"/>
          </a:p>
        </p:txBody>
      </p:sp>
      <p:sp>
        <p:nvSpPr>
          <p:cNvPr id="15" name="Text 13"/>
          <p:cNvSpPr/>
          <p:nvPr/>
        </p:nvSpPr>
        <p:spPr>
          <a:xfrm>
            <a:off x="8485632" y="4251960"/>
            <a:ext cx="3063240" cy="548640"/>
          </a:xfrm>
          <a:prstGeom prst="rect">
            <a:avLst/>
          </a:prstGeom>
          <a:noFill/>
          <a:ln/>
        </p:spPr>
        <p:txBody>
          <a:bodyPr wrap="square" lIns="0" tIns="0" rIns="0" bIns="0" rtlCol="0" anchor="ctr"/>
          <a:lstStyle/>
          <a:p>
            <a:pPr indent="0" marL="0">
              <a:buNone/>
            </a:pPr>
            <a:r>
              <a:rPr lang="en-US" sz="1250" dirty="0">
                <a:solidFill>
                  <a:srgbClr val="C9AFA3"/>
                </a:solidFill>
                <a:latin typeface="Calibri" pitchFamily="34" charset="0"/>
                <a:ea typeface="Calibri" pitchFamily="34" charset="-122"/>
                <a:cs typeface="Calibri" pitchFamily="34" charset="-120"/>
              </a:rPr>
              <a:t>a year, to pay for herself entirely</a:t>
            </a:r>
            <a:endParaRPr lang="en-US" sz="1250" dirty="0"/>
          </a:p>
        </p:txBody>
      </p:sp>
      <p:sp>
        <p:nvSpPr>
          <p:cNvPr id="16" name="Text 14"/>
          <p:cNvSpPr/>
          <p:nvPr/>
        </p:nvSpPr>
        <p:spPr>
          <a:xfrm>
            <a:off x="640080" y="5486400"/>
            <a:ext cx="11155680" cy="822960"/>
          </a:xfrm>
          <a:prstGeom prst="rect">
            <a:avLst/>
          </a:prstGeom>
          <a:noFill/>
          <a:ln/>
        </p:spPr>
        <p:txBody>
          <a:bodyPr wrap="square" lIns="0" tIns="0" rIns="0" bIns="0" rtlCol="0" anchor="ctr"/>
          <a:lstStyle/>
          <a:p>
            <a:pPr indent="0" marL="0">
              <a:buNone/>
            </a:pPr>
            <a:r>
              <a:rPr lang="en-US" sz="1500" i="1" dirty="0">
                <a:solidFill>
                  <a:srgbClr val="E4A3AE"/>
                </a:solidFill>
                <a:latin typeface="Calibri" pitchFamily="34" charset="0"/>
                <a:ea typeface="Calibri" pitchFamily="34" charset="-122"/>
                <a:cs typeface="Calibri" pitchFamily="34" charset="-120"/>
              </a:rPr>
              <a:t>Every admission after that — the 8:47 PM enquiries, the perfect follow-ups, the parents counselled in their own language — is pure gain. And the salary savings haven’t even entered this math.</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0E7"/>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300" kern="0" dirty="0">
                <a:solidFill>
                  <a:srgbClr val="A33244"/>
                </a:solidFill>
                <a:latin typeface="Calibri" pitchFamily="34" charset="0"/>
                <a:ea typeface="Calibri" pitchFamily="34" charset="-122"/>
                <a:cs typeface="Calibri" pitchFamily="34" charset="-120"/>
              </a:rPr>
              <a:t>12 — GETTING STARTED</a:t>
            </a:r>
            <a:endParaRPr lang="en-US" sz="11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400" b="1" dirty="0">
                <a:solidFill>
                  <a:srgbClr val="2A211C"/>
                </a:solidFill>
                <a:latin typeface="Cambria" pitchFamily="34" charset="0"/>
                <a:ea typeface="Cambria" pitchFamily="34" charset="-122"/>
                <a:cs typeface="Cambria" pitchFamily="34" charset="-120"/>
              </a:rPr>
              <a:t>Start small. See it with your own leads.</a:t>
            </a:r>
            <a:endParaRPr lang="en-US" sz="3400" dirty="0"/>
          </a:p>
        </p:txBody>
      </p:sp>
      <p:sp>
        <p:nvSpPr>
          <p:cNvPr id="4" name="Shape 2"/>
          <p:cNvSpPr/>
          <p:nvPr/>
        </p:nvSpPr>
        <p:spPr>
          <a:xfrm>
            <a:off x="640080" y="1965960"/>
            <a:ext cx="3566160" cy="2286000"/>
          </a:xfrm>
          <a:prstGeom prst="roundRect">
            <a:avLst>
              <a:gd name="adj" fmla="val 3200"/>
            </a:avLst>
          </a:prstGeom>
          <a:solidFill>
            <a:srgbClr val="EFE5D6"/>
          </a:solidFill>
          <a:ln w="9525">
            <a:solidFill>
              <a:srgbClr val="D9CCBB"/>
            </a:solidFill>
            <a:prstDash val="solid"/>
          </a:ln>
        </p:spPr>
      </p:sp>
      <p:sp>
        <p:nvSpPr>
          <p:cNvPr id="5" name="Text 3"/>
          <p:cNvSpPr/>
          <p:nvPr/>
        </p:nvSpPr>
        <p:spPr>
          <a:xfrm>
            <a:off x="896112" y="2194560"/>
            <a:ext cx="3017520" cy="274320"/>
          </a:xfrm>
          <a:prstGeom prst="rect">
            <a:avLst/>
          </a:prstGeom>
          <a:noFill/>
          <a:ln/>
        </p:spPr>
        <p:txBody>
          <a:bodyPr wrap="square" lIns="0" tIns="0" rIns="0" bIns="0" rtlCol="0" anchor="ctr"/>
          <a:lstStyle/>
          <a:p>
            <a:pPr indent="0" marL="0">
              <a:buNone/>
            </a:pPr>
            <a:r>
              <a:rPr lang="en-US" sz="1100" b="1" spc="200" kern="0" dirty="0">
                <a:solidFill>
                  <a:srgbClr val="A33244"/>
                </a:solidFill>
                <a:latin typeface="Calibri" pitchFamily="34" charset="0"/>
                <a:ea typeface="Calibri" pitchFamily="34" charset="-122"/>
                <a:cs typeface="Calibri" pitchFamily="34" charset="-120"/>
              </a:rPr>
              <a:t>WEEK 1</a:t>
            </a:r>
            <a:endParaRPr lang="en-US" sz="1100" dirty="0"/>
          </a:p>
        </p:txBody>
      </p:sp>
      <p:sp>
        <p:nvSpPr>
          <p:cNvPr id="6" name="Text 4"/>
          <p:cNvSpPr/>
          <p:nvPr/>
        </p:nvSpPr>
        <p:spPr>
          <a:xfrm>
            <a:off x="896112" y="2514600"/>
            <a:ext cx="3017520" cy="457200"/>
          </a:xfrm>
          <a:prstGeom prst="rect">
            <a:avLst/>
          </a:prstGeom>
          <a:noFill/>
          <a:ln/>
        </p:spPr>
        <p:txBody>
          <a:bodyPr wrap="square" lIns="0" tIns="0" rIns="0" bIns="0" rtlCol="0" anchor="ctr"/>
          <a:lstStyle/>
          <a:p>
            <a:pPr indent="0" marL="0">
              <a:buNone/>
            </a:pPr>
            <a:r>
              <a:rPr lang="en-US" sz="2200" b="1" dirty="0">
                <a:solidFill>
                  <a:srgbClr val="2A211C"/>
                </a:solidFill>
                <a:latin typeface="Cambria" pitchFamily="34" charset="0"/>
                <a:ea typeface="Cambria" pitchFamily="34" charset="-122"/>
                <a:cs typeface="Cambria" pitchFamily="34" charset="-120"/>
              </a:rPr>
              <a:t>Setup</a:t>
            </a:r>
            <a:endParaRPr lang="en-US" sz="2200" dirty="0"/>
          </a:p>
        </p:txBody>
      </p:sp>
      <p:sp>
        <p:nvSpPr>
          <p:cNvPr id="7" name="Text 5"/>
          <p:cNvSpPr/>
          <p:nvPr/>
        </p:nvSpPr>
        <p:spPr>
          <a:xfrm>
            <a:off x="896112" y="3063240"/>
            <a:ext cx="3063240" cy="1097280"/>
          </a:xfrm>
          <a:prstGeom prst="rect">
            <a:avLst/>
          </a:prstGeom>
          <a:noFill/>
          <a:ln/>
        </p:spPr>
        <p:txBody>
          <a:bodyPr wrap="square" lIns="0" tIns="0" rIns="0" bIns="0" rtlCol="0" anchor="ctr"/>
          <a:lstStyle/>
          <a:p>
            <a:pPr indent="0" marL="0">
              <a:buNone/>
            </a:pPr>
            <a:r>
              <a:rPr lang="en-US" sz="1200" dirty="0">
                <a:solidFill>
                  <a:srgbClr val="6E6058"/>
                </a:solidFill>
                <a:latin typeface="Calibri" pitchFamily="34" charset="0"/>
                <a:ea typeface="Calibri" pitchFamily="34" charset="-122"/>
                <a:cs typeface="Calibri" pitchFamily="34" charset="-120"/>
              </a:rPr>
              <a:t>Your fee structure, campuses and scholarship rules go in. Your enquiry backlog is imported. Sneha learns your college.</a:t>
            </a:r>
            <a:endParaRPr lang="en-US" sz="1200" dirty="0"/>
          </a:p>
        </p:txBody>
      </p:sp>
      <p:sp>
        <p:nvSpPr>
          <p:cNvPr id="8" name="Shape 6"/>
          <p:cNvSpPr/>
          <p:nvPr/>
        </p:nvSpPr>
        <p:spPr>
          <a:xfrm>
            <a:off x="4434840" y="1965960"/>
            <a:ext cx="3566160" cy="2286000"/>
          </a:xfrm>
          <a:prstGeom prst="roundRect">
            <a:avLst>
              <a:gd name="adj" fmla="val 3200"/>
            </a:avLst>
          </a:prstGeom>
          <a:solidFill>
            <a:srgbClr val="EFE5D6"/>
          </a:solidFill>
          <a:ln w="9525">
            <a:solidFill>
              <a:srgbClr val="D9CCBB"/>
            </a:solidFill>
            <a:prstDash val="solid"/>
          </a:ln>
        </p:spPr>
      </p:sp>
      <p:sp>
        <p:nvSpPr>
          <p:cNvPr id="9" name="Text 7"/>
          <p:cNvSpPr/>
          <p:nvPr/>
        </p:nvSpPr>
        <p:spPr>
          <a:xfrm>
            <a:off x="4690872" y="2194560"/>
            <a:ext cx="3017520" cy="274320"/>
          </a:xfrm>
          <a:prstGeom prst="rect">
            <a:avLst/>
          </a:prstGeom>
          <a:noFill/>
          <a:ln/>
        </p:spPr>
        <p:txBody>
          <a:bodyPr wrap="square" lIns="0" tIns="0" rIns="0" bIns="0" rtlCol="0" anchor="ctr"/>
          <a:lstStyle/>
          <a:p>
            <a:pPr indent="0" marL="0">
              <a:buNone/>
            </a:pPr>
            <a:r>
              <a:rPr lang="en-US" sz="1100" b="1" spc="200" kern="0" dirty="0">
                <a:solidFill>
                  <a:srgbClr val="A33244"/>
                </a:solidFill>
                <a:latin typeface="Calibri" pitchFamily="34" charset="0"/>
                <a:ea typeface="Calibri" pitchFamily="34" charset="-122"/>
                <a:cs typeface="Calibri" pitchFamily="34" charset="-120"/>
              </a:rPr>
              <a:t>WEEK 2</a:t>
            </a:r>
            <a:endParaRPr lang="en-US" sz="1100" dirty="0"/>
          </a:p>
        </p:txBody>
      </p:sp>
      <p:sp>
        <p:nvSpPr>
          <p:cNvPr id="10" name="Text 8"/>
          <p:cNvSpPr/>
          <p:nvPr/>
        </p:nvSpPr>
        <p:spPr>
          <a:xfrm>
            <a:off x="4690872" y="2514600"/>
            <a:ext cx="3017520" cy="457200"/>
          </a:xfrm>
          <a:prstGeom prst="rect">
            <a:avLst/>
          </a:prstGeom>
          <a:noFill/>
          <a:ln/>
        </p:spPr>
        <p:txBody>
          <a:bodyPr wrap="square" lIns="0" tIns="0" rIns="0" bIns="0" rtlCol="0" anchor="ctr"/>
          <a:lstStyle/>
          <a:p>
            <a:pPr indent="0" marL="0">
              <a:buNone/>
            </a:pPr>
            <a:r>
              <a:rPr lang="en-US" sz="2200" b="1" dirty="0">
                <a:solidFill>
                  <a:srgbClr val="2A211C"/>
                </a:solidFill>
                <a:latin typeface="Cambria" pitchFamily="34" charset="0"/>
                <a:ea typeface="Cambria" pitchFamily="34" charset="-122"/>
                <a:cs typeface="Cambria" pitchFamily="34" charset="-120"/>
              </a:rPr>
              <a:t>She calls</a:t>
            </a:r>
            <a:endParaRPr lang="en-US" sz="2200" dirty="0"/>
          </a:p>
        </p:txBody>
      </p:sp>
      <p:sp>
        <p:nvSpPr>
          <p:cNvPr id="11" name="Text 9"/>
          <p:cNvSpPr/>
          <p:nvPr/>
        </p:nvSpPr>
        <p:spPr>
          <a:xfrm>
            <a:off x="4690872" y="3063240"/>
            <a:ext cx="3063240" cy="1097280"/>
          </a:xfrm>
          <a:prstGeom prst="rect">
            <a:avLst/>
          </a:prstGeom>
          <a:noFill/>
          <a:ln/>
        </p:spPr>
        <p:txBody>
          <a:bodyPr wrap="square" lIns="0" tIns="0" rIns="0" bIns="0" rtlCol="0" anchor="ctr"/>
          <a:lstStyle/>
          <a:p>
            <a:pPr indent="0" marL="0">
              <a:buNone/>
            </a:pPr>
            <a:r>
              <a:rPr lang="en-US" sz="1200" dirty="0">
                <a:solidFill>
                  <a:srgbClr val="6E6058"/>
                </a:solidFill>
                <a:latin typeface="Calibri" pitchFamily="34" charset="0"/>
                <a:ea typeface="Calibri" pitchFamily="34" charset="-122"/>
                <a:cs typeface="Calibri" pitchFamily="34" charset="-120"/>
              </a:rPr>
              <a:t>Real calls to your real enquiries. Every conversation recorded, every transcript yours to read.</a:t>
            </a:r>
            <a:endParaRPr lang="en-US" sz="1200" dirty="0"/>
          </a:p>
        </p:txBody>
      </p:sp>
      <p:sp>
        <p:nvSpPr>
          <p:cNvPr id="12" name="Shape 10"/>
          <p:cNvSpPr/>
          <p:nvPr/>
        </p:nvSpPr>
        <p:spPr>
          <a:xfrm>
            <a:off x="8229600" y="1965960"/>
            <a:ext cx="3566160" cy="2286000"/>
          </a:xfrm>
          <a:prstGeom prst="roundRect">
            <a:avLst>
              <a:gd name="adj" fmla="val 3200"/>
            </a:avLst>
          </a:prstGeom>
          <a:solidFill>
            <a:srgbClr val="EFE5D6"/>
          </a:solidFill>
          <a:ln w="9525">
            <a:solidFill>
              <a:srgbClr val="D9CCBB"/>
            </a:solidFill>
            <a:prstDash val="solid"/>
          </a:ln>
        </p:spPr>
      </p:sp>
      <p:sp>
        <p:nvSpPr>
          <p:cNvPr id="13" name="Text 11"/>
          <p:cNvSpPr/>
          <p:nvPr/>
        </p:nvSpPr>
        <p:spPr>
          <a:xfrm>
            <a:off x="8485632" y="2194560"/>
            <a:ext cx="3017520" cy="274320"/>
          </a:xfrm>
          <a:prstGeom prst="rect">
            <a:avLst/>
          </a:prstGeom>
          <a:noFill/>
          <a:ln/>
        </p:spPr>
        <p:txBody>
          <a:bodyPr wrap="square" lIns="0" tIns="0" rIns="0" bIns="0" rtlCol="0" anchor="ctr"/>
          <a:lstStyle/>
          <a:p>
            <a:pPr indent="0" marL="0">
              <a:buNone/>
            </a:pPr>
            <a:r>
              <a:rPr lang="en-US" sz="1100" b="1" spc="200" kern="0" dirty="0">
                <a:solidFill>
                  <a:srgbClr val="A33244"/>
                </a:solidFill>
                <a:latin typeface="Calibri" pitchFamily="34" charset="0"/>
                <a:ea typeface="Calibri" pitchFamily="34" charset="-122"/>
                <a:cs typeface="Calibri" pitchFamily="34" charset="-120"/>
              </a:rPr>
              <a:t>WEEK 3</a:t>
            </a:r>
            <a:endParaRPr lang="en-US" sz="1100" dirty="0"/>
          </a:p>
        </p:txBody>
      </p:sp>
      <p:sp>
        <p:nvSpPr>
          <p:cNvPr id="14" name="Text 12"/>
          <p:cNvSpPr/>
          <p:nvPr/>
        </p:nvSpPr>
        <p:spPr>
          <a:xfrm>
            <a:off x="8485632" y="2514600"/>
            <a:ext cx="3017520" cy="457200"/>
          </a:xfrm>
          <a:prstGeom prst="rect">
            <a:avLst/>
          </a:prstGeom>
          <a:noFill/>
          <a:ln/>
        </p:spPr>
        <p:txBody>
          <a:bodyPr wrap="square" lIns="0" tIns="0" rIns="0" bIns="0" rtlCol="0" anchor="ctr"/>
          <a:lstStyle/>
          <a:p>
            <a:pPr indent="0" marL="0">
              <a:buNone/>
            </a:pPr>
            <a:r>
              <a:rPr lang="en-US" sz="2200" b="1" dirty="0">
                <a:solidFill>
                  <a:srgbClr val="2A211C"/>
                </a:solidFill>
                <a:latin typeface="Cambria" pitchFamily="34" charset="0"/>
                <a:ea typeface="Cambria" pitchFamily="34" charset="-122"/>
                <a:cs typeface="Cambria" pitchFamily="34" charset="-120"/>
              </a:rPr>
              <a:t>You decide</a:t>
            </a:r>
            <a:endParaRPr lang="en-US" sz="2200" dirty="0"/>
          </a:p>
        </p:txBody>
      </p:sp>
      <p:sp>
        <p:nvSpPr>
          <p:cNvPr id="15" name="Text 13"/>
          <p:cNvSpPr/>
          <p:nvPr/>
        </p:nvSpPr>
        <p:spPr>
          <a:xfrm>
            <a:off x="8485632" y="3063240"/>
            <a:ext cx="3063240" cy="1097280"/>
          </a:xfrm>
          <a:prstGeom prst="rect">
            <a:avLst/>
          </a:prstGeom>
          <a:noFill/>
          <a:ln/>
        </p:spPr>
        <p:txBody>
          <a:bodyPr wrap="square" lIns="0" tIns="0" rIns="0" bIns="0" rtlCol="0" anchor="ctr"/>
          <a:lstStyle/>
          <a:p>
            <a:pPr indent="0" marL="0">
              <a:buNone/>
            </a:pPr>
            <a:r>
              <a:rPr lang="en-US" sz="1200" dirty="0">
                <a:solidFill>
                  <a:srgbClr val="6E6058"/>
                </a:solidFill>
                <a:latin typeface="Calibri" pitchFamily="34" charset="0"/>
                <a:ea typeface="Calibri" pitchFamily="34" charset="-122"/>
                <a:cs typeface="Calibri" pitchFamily="34" charset="-120"/>
              </a:rPr>
              <a:t>Review the funnel, the bookings, the transcripts. Continue, scale up — or walk away.</a:t>
            </a:r>
            <a:endParaRPr lang="en-US" sz="1200" dirty="0"/>
          </a:p>
        </p:txBody>
      </p:sp>
      <p:sp>
        <p:nvSpPr>
          <p:cNvPr id="16" name="Shape 14"/>
          <p:cNvSpPr/>
          <p:nvPr/>
        </p:nvSpPr>
        <p:spPr>
          <a:xfrm>
            <a:off x="713232" y="4800600"/>
            <a:ext cx="146304" cy="146304"/>
          </a:xfrm>
          <a:prstGeom prst="ellipse">
            <a:avLst/>
          </a:prstGeom>
          <a:solidFill>
            <a:srgbClr val="2E7D4F"/>
          </a:solidFill>
          <a:ln/>
        </p:spPr>
      </p:sp>
      <p:sp>
        <p:nvSpPr>
          <p:cNvPr id="17" name="Text 15"/>
          <p:cNvSpPr/>
          <p:nvPr/>
        </p:nvSpPr>
        <p:spPr>
          <a:xfrm>
            <a:off x="1024128" y="4709160"/>
            <a:ext cx="10058400" cy="411480"/>
          </a:xfrm>
          <a:prstGeom prst="rect">
            <a:avLst/>
          </a:prstGeom>
          <a:noFill/>
          <a:ln/>
        </p:spPr>
        <p:txBody>
          <a:bodyPr wrap="square" lIns="0" tIns="0" rIns="0" bIns="0" rtlCol="0" anchor="ctr"/>
          <a:lstStyle/>
          <a:p>
            <a:pPr indent="0" marL="0">
              <a:buNone/>
            </a:pPr>
            <a:r>
              <a:rPr lang="en-US" sz="1400" dirty="0">
                <a:solidFill>
                  <a:srgbClr val="2A211C"/>
                </a:solidFill>
                <a:latin typeface="Calibri" pitchFamily="34" charset="0"/>
                <a:ea typeface="Calibri" pitchFamily="34" charset="-122"/>
                <a:cs typeface="Calibri" pitchFamily="34" charset="-120"/>
              </a:rPr>
              <a:t>Vendor accounts in your name — the bills are yours to see</a:t>
            </a:r>
            <a:endParaRPr lang="en-US" sz="1400" dirty="0"/>
          </a:p>
        </p:txBody>
      </p:sp>
      <p:sp>
        <p:nvSpPr>
          <p:cNvPr id="18" name="Shape 16"/>
          <p:cNvSpPr/>
          <p:nvPr/>
        </p:nvSpPr>
        <p:spPr>
          <a:xfrm>
            <a:off x="713232" y="5257800"/>
            <a:ext cx="146304" cy="146304"/>
          </a:xfrm>
          <a:prstGeom prst="ellipse">
            <a:avLst/>
          </a:prstGeom>
          <a:solidFill>
            <a:srgbClr val="2E7D4F"/>
          </a:solidFill>
          <a:ln/>
        </p:spPr>
      </p:sp>
      <p:sp>
        <p:nvSpPr>
          <p:cNvPr id="19" name="Text 17"/>
          <p:cNvSpPr/>
          <p:nvPr/>
        </p:nvSpPr>
        <p:spPr>
          <a:xfrm>
            <a:off x="1024128" y="5166360"/>
            <a:ext cx="10058400" cy="411480"/>
          </a:xfrm>
          <a:prstGeom prst="rect">
            <a:avLst/>
          </a:prstGeom>
          <a:noFill/>
          <a:ln/>
        </p:spPr>
        <p:txBody>
          <a:bodyPr wrap="square" lIns="0" tIns="0" rIns="0" bIns="0" rtlCol="0" anchor="ctr"/>
          <a:lstStyle/>
          <a:p>
            <a:pPr indent="0" marL="0">
              <a:buNone/>
            </a:pPr>
            <a:r>
              <a:rPr lang="en-US" sz="1400" dirty="0">
                <a:solidFill>
                  <a:srgbClr val="2A211C"/>
                </a:solidFill>
                <a:latin typeface="Calibri" pitchFamily="34" charset="0"/>
                <a:ea typeface="Calibri" pitchFamily="34" charset="-122"/>
                <a:cs typeface="Calibri" pitchFamily="34" charset="-120"/>
              </a:rPr>
              <a:t>Your data stays yours, always</a:t>
            </a:r>
            <a:endParaRPr lang="en-US" sz="1400" dirty="0"/>
          </a:p>
        </p:txBody>
      </p:sp>
      <p:sp>
        <p:nvSpPr>
          <p:cNvPr id="20" name="Shape 18"/>
          <p:cNvSpPr/>
          <p:nvPr/>
        </p:nvSpPr>
        <p:spPr>
          <a:xfrm>
            <a:off x="713232" y="5715000"/>
            <a:ext cx="146304" cy="146304"/>
          </a:xfrm>
          <a:prstGeom prst="ellipse">
            <a:avLst/>
          </a:prstGeom>
          <a:solidFill>
            <a:srgbClr val="2E7D4F"/>
          </a:solidFill>
          <a:ln/>
        </p:spPr>
      </p:sp>
      <p:sp>
        <p:nvSpPr>
          <p:cNvPr id="21" name="Text 19"/>
          <p:cNvSpPr/>
          <p:nvPr/>
        </p:nvSpPr>
        <p:spPr>
          <a:xfrm>
            <a:off x="1024128" y="5623560"/>
            <a:ext cx="10058400" cy="411480"/>
          </a:xfrm>
          <a:prstGeom prst="rect">
            <a:avLst/>
          </a:prstGeom>
          <a:noFill/>
          <a:ln/>
        </p:spPr>
        <p:txBody>
          <a:bodyPr wrap="square" lIns="0" tIns="0" rIns="0" bIns="0" rtlCol="0" anchor="ctr"/>
          <a:lstStyle/>
          <a:p>
            <a:pPr indent="0" marL="0">
              <a:buNone/>
            </a:pPr>
            <a:r>
              <a:rPr lang="en-US" sz="1400" dirty="0">
                <a:solidFill>
                  <a:srgbClr val="2A211C"/>
                </a:solidFill>
                <a:latin typeface="Calibri" pitchFamily="34" charset="0"/>
                <a:ea typeface="Calibri" pitchFamily="34" charset="-122"/>
                <a:cs typeface="Calibri" pitchFamily="34" charset="-120"/>
              </a:rPr>
              <a:t>No lock-in. Walk away any month.</a:t>
            </a:r>
            <a:endParaRPr lang="en-US" sz="1400" dirty="0"/>
          </a:p>
        </p:txBody>
      </p:sp>
      <p:sp>
        <p:nvSpPr>
          <p:cNvPr id="22" name="Text 20"/>
          <p:cNvSpPr/>
          <p:nvPr/>
        </p:nvSpPr>
        <p:spPr>
          <a:xfrm>
            <a:off x="640080" y="6172200"/>
            <a:ext cx="10972800" cy="457200"/>
          </a:xfrm>
          <a:prstGeom prst="rect">
            <a:avLst/>
          </a:prstGeom>
          <a:noFill/>
          <a:ln/>
        </p:spPr>
        <p:txBody>
          <a:bodyPr wrap="square" lIns="0" tIns="0" rIns="0" bIns="0" rtlCol="0" anchor="ctr"/>
          <a:lstStyle/>
          <a:p>
            <a:pPr indent="0" marL="0">
              <a:buNone/>
            </a:pPr>
            <a:r>
              <a:rPr lang="en-US" sz="2000" b="1" i="1" dirty="0">
                <a:solidFill>
                  <a:srgbClr val="6E1B2A"/>
                </a:solidFill>
                <a:latin typeface="Cambria" pitchFamily="34" charset="0"/>
                <a:ea typeface="Cambria" pitchFamily="34" charset="-122"/>
                <a:cs typeface="Cambria" pitchFamily="34" charset="-120"/>
              </a:rPr>
              <a:t>Ask her your hardest question — live, today.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2026-07-17T04:01:10Z</dcterms:created>
  <dcterms:modified xsi:type="dcterms:W3CDTF">2026-07-17T04:01:10Z</dcterms:modified>
</cp:coreProperties>
</file>